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Codeborough. Over the hackathon we built a private, on-device, voice-first civic concierge for London. You speak a question out loud, and it finds the right civic service near you, gets you there safely, and remembers your situation the whole way through. Everything but the voice runs on the box. It's built for NVIDIA Hack for Impact, on the Public Services track, and we're going for the Nemotron and ElevenLabs persistence bounties.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gap. This isn't about finding a cafe. Google and Apple already do shops, restaurants and big places well, libraries included. What they don't ingest is the civic layer councils publish: where you vote, winter grit bins, emergency rest centres, council safety cameras, the access detail on a public toilet. It's open data, but it's scattered across 33 separate council portals and you can't query it in plain language. And that lands hardest on exactly the people who need it most: new arrivals, the elderly, the visually impaired, and the privacy-conscious.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pitch in one breath: a voice agent we build on OpenClaw, grounded in real London open data, running entirely on an NVIDIA DGX Spark. Four pieces. Voice through ElevenLabs, the brain is Nemotron, grounding is our own civic-geo plugin over local data, and memory is one long session that actually recalls your earlier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 three things. One, find the civic thing maps miss: the nearest polling station, rest centre, library or accessible public toilet, and a route to it. We're honest here, it's the nearest facility, not your assigned catchment yet, that's a postcode-lookup next step. Two, get me there safely: it prefers monitored, busy, well-served streets. That CCTV is mostly traffic and town cameras, so it's really a proxy for busy roads, not crime surveillance. Three, tell me about it: hours, step-free access, what's actually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on-device? Three reasons. Privacy: your location and queries stay on the box. Richer answers: local civic data surfaces detail a map app simply doesn't hold. And anywhere: it's self-contained, no cloud dependency, it'll run in a community centre with no connection. For vulnerable users, that privacy isn't a nice-to-have, it's the precondition for them asking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device. You speak, ElevenLabs Scribe turns it to text, OpenClaw routes it to Nemotron, Nemotron reasons and calls our civic-geo plugin, which queries local London GeoJSON. The grounded answer comes back through OpenClaw to Eleven v3 and you hear it. Session memory saves and recalls every turn on the side. The dashed boundary is the device, and only the voice in and out ever leaves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engineering slide. We didn't reinvent an agent platform. We reuse OpenClaw for the gateway, sessions, memory, the Talk voice mode and the plugin SDK. Our original IP is one sharp thing: the civic-geo plugin, pure-Node, zero dependencies, five tools. geocode, find_nearest, get_details, safety_count, list_coverage. Scoping it that tightly is exactly what let us ship in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data is real. Seven civic datasets stored locally as GeoJSON. A thousand schools, hundreds of CCTV points, polling stations, grit bins, toilets, reception centres, libraries. About 8 of London's 33 authorities, partial by design. The demo focuses on Lambeth because it's the one borough with CCTV and every destination type. Every source and licence is documented. This is real open data, not mocked.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Nemotron, we're not running one model, we're running a whole lineup on a single GB10, about 31 gigs of the 128. The brain is Nemotron-3-Nano-30B in NVFP4, tool-calling, served through vLLM on an OpenAI-compatible endpoint. Plus embed-1b and rerank-1b for retrieval, and a content-safety guard. That breadth, four Nemotron models cooperating on one box, is our case for the bounty.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ElevenLabs, voice in and out is Scribe v2 and Eleven v3 in Talk mode, with barge-in, so you can interrupt it. And the persistence piece: one long-lived session, persisted to disk, that recalls earlier turns across more than an hour and eleven minutes. The 'what did I ask forty minutes ago' moment just works. That's our persistence-bounty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One family, one conversation. They've moved to Brixton, and they ask for the nearest primary school and a safe walk there. It finds the nearest school, plots a safe route over monitored streets, counts the cameras, flags an accessible toilet on the way. Then a quick second persona, an elderly voter asking for their nearest step-free polling station. And then the payoff, forty minutes into the same session: remind me which school and when to leave. And it just recalls it. Private, equitable access for the people who struggle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so what? It's equity: built for the people maps leave behind. It's privacy: your data never leaves the device. And it runs anywhere, brain, data and memory all local. Next is more boroughs, more datasets, and kiosk deployments out in the community. That's Codeborough, a private, on-device, voice-first civic concierge for London.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6E3"/>
        </a:solidFill>
      </p:bgPr>
    </p:bg>
    <p:spTree>
      <p:nvGrpSpPr>
        <p:cNvPr id="1" name=""/>
        <p:cNvGrpSpPr/>
        <p:nvPr/>
      </p:nvGrpSpPr>
      <p:grpSpPr>
        <a:xfrm>
          <a:off x="0" y="0"/>
          <a:ext cx="0" cy="0"/>
          <a:chOff x="0" y="0"/>
          <a:chExt cx="0" cy="0"/>
        </a:xfrm>
      </p:grpSpPr>
      <p:sp>
        <p:nvSpPr>
          <p:cNvPr id="2" name="Text 0"/>
          <p:cNvSpPr/>
          <p:nvPr/>
        </p:nvSpPr>
        <p:spPr>
          <a:xfrm>
            <a:off x="800100" y="2808288"/>
            <a:ext cx="17188434" cy="647700"/>
          </a:xfrm>
          <a:prstGeom prst="rect">
            <a:avLst/>
          </a:prstGeom>
          <a:noFill/>
          <a:ln/>
        </p:spPr>
        <p:txBody>
          <a:bodyPr wrap="square" lIns="25400" tIns="25400" rIns="25400" bIns="25400" rtlCol="0" anchor="t">
            <a:normAutofit/>
          </a:bodyPr>
          <a:lstStyle/>
          <a:p>
            <a:pPr algn="l" indent="0" marL="0">
              <a:lnSpc>
                <a:spcPct val="140000"/>
              </a:lnSpc>
              <a:buNone/>
            </a:pPr>
            <a:r>
              <a:rPr lang="en-US" sz="3450" b="1" dirty="0">
                <a:solidFill>
                  <a:srgbClr val="14171C"/>
                </a:solidFill>
                <a:latin typeface="Arial" pitchFamily="34" charset="0"/>
                <a:ea typeface="Arial" pitchFamily="34" charset="-122"/>
                <a:cs typeface="Arial" pitchFamily="34" charset="-120"/>
              </a:rPr>
              <a:t>A private, on-device civic concierge →</a:t>
            </a:r>
            <a:endParaRPr lang="en-US" sz="3450" dirty="0"/>
          </a:p>
        </p:txBody>
      </p:sp>
      <p:sp>
        <p:nvSpPr>
          <p:cNvPr id="3" name="Text 1"/>
          <p:cNvSpPr/>
          <p:nvPr/>
        </p:nvSpPr>
        <p:spPr>
          <a:xfrm>
            <a:off x="800100" y="3589338"/>
            <a:ext cx="17188434" cy="927100"/>
          </a:xfrm>
          <a:prstGeom prst="rect">
            <a:avLst/>
          </a:prstGeom>
          <a:noFill/>
          <a:ln/>
        </p:spPr>
        <p:txBody>
          <a:bodyPr wrap="square" lIns="25400" tIns="25400" rIns="25400" bIns="25400" rtlCol="0" anchor="t">
            <a:normAutofit/>
          </a:bodyPr>
          <a:lstStyle/>
          <a:p>
            <a:pPr algn="l" indent="0" marL="0">
              <a:lnSpc>
                <a:spcPct val="98000"/>
              </a:lnSpc>
              <a:buNone/>
            </a:pPr>
            <a:r>
              <a:rPr lang="en-US" sz="7200" b="1" spc="-216" kern="0" dirty="0">
                <a:solidFill>
                  <a:srgbClr val="14171C"/>
                </a:solidFill>
                <a:latin typeface="Arial" pitchFamily="34" charset="0"/>
                <a:ea typeface="Arial" pitchFamily="34" charset="-122"/>
                <a:cs typeface="Arial" pitchFamily="34" charset="-120"/>
              </a:rPr>
              <a:t>Codeborough</a:t>
            </a:r>
            <a:endParaRPr lang="en-US" sz="7200" dirty="0"/>
          </a:p>
        </p:txBody>
      </p:sp>
      <p:sp>
        <p:nvSpPr>
          <p:cNvPr id="4" name="Text 2"/>
          <p:cNvSpPr/>
          <p:nvPr/>
        </p:nvSpPr>
        <p:spPr>
          <a:xfrm>
            <a:off x="800100" y="4706938"/>
            <a:ext cx="13538835" cy="546100"/>
          </a:xfrm>
          <a:prstGeom prst="rect">
            <a:avLst/>
          </a:prstGeom>
          <a:noFill/>
          <a:ln/>
        </p:spPr>
        <p:txBody>
          <a:bodyPr wrap="square" lIns="25400" tIns="25400" rIns="25400" bIns="25400" rtlCol="0" anchor="t">
            <a:normAutofit/>
          </a:bodyPr>
          <a:lstStyle/>
          <a:p>
            <a:pPr algn="l" indent="0" marL="0">
              <a:lnSpc>
                <a:spcPct val="108000"/>
              </a:lnSpc>
              <a:buNone/>
            </a:pPr>
            <a:r>
              <a:rPr lang="en-US" sz="3750" b="1" dirty="0">
                <a:solidFill>
                  <a:srgbClr val="14171C"/>
                </a:solidFill>
                <a:latin typeface="Arial" pitchFamily="34" charset="0"/>
                <a:ea typeface="Arial" pitchFamily="34" charset="-122"/>
                <a:cs typeface="Arial" pitchFamily="34" charset="-120"/>
              </a:rPr>
              <a:t>Your voice-first guide to London's civic services, fully on-device.</a:t>
            </a:r>
            <a:endParaRPr lang="en-US" sz="3750" dirty="0"/>
          </a:p>
        </p:txBody>
      </p:sp>
      <p:sp>
        <p:nvSpPr>
          <p:cNvPr id="5" name="Text 3"/>
          <p:cNvSpPr/>
          <p:nvPr/>
        </p:nvSpPr>
        <p:spPr>
          <a:xfrm>
            <a:off x="800100" y="5732463"/>
            <a:ext cx="1371799"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120" kern="0" dirty="0">
                <a:solidFill>
                  <a:srgbClr val="6B6E76"/>
                </a:solidFill>
                <a:latin typeface="Courier New" pitchFamily="34" charset="0"/>
                <a:ea typeface="Courier New" pitchFamily="34" charset="-122"/>
                <a:cs typeface="Courier New" pitchFamily="34" charset="-120"/>
              </a:rPr>
              <a:t>BUILT WITH</a:t>
            </a:r>
            <a:endParaRPr lang="en-US" sz="1500" dirty="0"/>
          </a:p>
        </p:txBody>
      </p:sp>
      <p:sp>
        <p:nvSpPr>
          <p:cNvPr id="6" name="Shape 4"/>
          <p:cNvSpPr/>
          <p:nvPr/>
        </p:nvSpPr>
        <p:spPr>
          <a:xfrm>
            <a:off x="2267149" y="5576888"/>
            <a:ext cx="2845792" cy="577850"/>
          </a:xfrm>
          <a:prstGeom prst="roundRect">
            <a:avLst>
              <a:gd name="adj" fmla="val 50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pic>
        <p:nvPicPr>
          <p:cNvPr id="7" name="Image 0" descr="preencoded.png">    </p:cNvPr>
          <p:cNvPicPr>
            <a:picLocks noChangeAspect="1"/>
          </p:cNvPicPr>
          <p:nvPr/>
        </p:nvPicPr>
        <p:blipFill>
          <a:blip r:embed="rId1"/>
          <a:stretch>
            <a:fillRect/>
          </a:stretch>
        </p:blipFill>
        <p:spPr>
          <a:xfrm>
            <a:off x="2495749" y="5751513"/>
            <a:ext cx="228600" cy="228600"/>
          </a:xfrm>
          <a:prstGeom prst="rect">
            <a:avLst/>
          </a:prstGeom>
        </p:spPr>
      </p:pic>
      <p:sp>
        <p:nvSpPr>
          <p:cNvPr id="8" name="Text 5"/>
          <p:cNvSpPr/>
          <p:nvPr/>
        </p:nvSpPr>
        <p:spPr>
          <a:xfrm>
            <a:off x="2838649" y="5700713"/>
            <a:ext cx="2121892"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spc="-19" kern="0" dirty="0">
                <a:solidFill>
                  <a:srgbClr val="5E9400"/>
                </a:solidFill>
                <a:latin typeface="Arial" pitchFamily="34" charset="0"/>
                <a:ea typeface="Arial" pitchFamily="34" charset="-122"/>
                <a:cs typeface="Arial" pitchFamily="34" charset="-120"/>
              </a:rPr>
              <a:t>NVIDIA Nemotron</a:t>
            </a:r>
            <a:endParaRPr lang="en-US" sz="1875" dirty="0"/>
          </a:p>
        </p:txBody>
      </p:sp>
      <p:sp>
        <p:nvSpPr>
          <p:cNvPr id="9" name="Shape 6"/>
          <p:cNvSpPr/>
          <p:nvPr/>
        </p:nvSpPr>
        <p:spPr>
          <a:xfrm>
            <a:off x="5284391" y="5576888"/>
            <a:ext cx="2074863" cy="577850"/>
          </a:xfrm>
          <a:prstGeom prst="roundRect">
            <a:avLst>
              <a:gd name="adj" fmla="val 50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pic>
        <p:nvPicPr>
          <p:cNvPr id="10" name="Image 1" descr="preencoded.png">    </p:cNvPr>
          <p:cNvPicPr>
            <a:picLocks noChangeAspect="1"/>
          </p:cNvPicPr>
          <p:nvPr/>
        </p:nvPicPr>
        <p:blipFill>
          <a:blip r:embed="rId2"/>
          <a:stretch>
            <a:fillRect/>
          </a:stretch>
        </p:blipFill>
        <p:spPr>
          <a:xfrm>
            <a:off x="5512991" y="5751513"/>
            <a:ext cx="228600" cy="228600"/>
          </a:xfrm>
          <a:prstGeom prst="rect">
            <a:avLst/>
          </a:prstGeom>
        </p:spPr>
      </p:pic>
      <p:sp>
        <p:nvSpPr>
          <p:cNvPr id="11" name="Text 7"/>
          <p:cNvSpPr/>
          <p:nvPr/>
        </p:nvSpPr>
        <p:spPr>
          <a:xfrm>
            <a:off x="5855891" y="5700713"/>
            <a:ext cx="1350963"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spc="-19" kern="0" dirty="0">
                <a:solidFill>
                  <a:srgbClr val="1A1A1A"/>
                </a:solidFill>
                <a:latin typeface="Arial" pitchFamily="34" charset="0"/>
                <a:ea typeface="Arial" pitchFamily="34" charset="-122"/>
                <a:cs typeface="Arial" pitchFamily="34" charset="-120"/>
              </a:rPr>
              <a:t>ElevenLabs</a:t>
            </a:r>
            <a:endParaRPr lang="en-US" sz="1875" dirty="0"/>
          </a:p>
        </p:txBody>
      </p:sp>
      <p:sp>
        <p:nvSpPr>
          <p:cNvPr id="12" name="Shape 8"/>
          <p:cNvSpPr/>
          <p:nvPr/>
        </p:nvSpPr>
        <p:spPr>
          <a:xfrm>
            <a:off x="7530703" y="5576888"/>
            <a:ext cx="1987748" cy="577850"/>
          </a:xfrm>
          <a:prstGeom prst="roundRect">
            <a:avLst>
              <a:gd name="adj" fmla="val 50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pic>
        <p:nvPicPr>
          <p:cNvPr id="13" name="Image 2" descr="preencoded.png">    </p:cNvPr>
          <p:cNvPicPr>
            <a:picLocks noChangeAspect="1"/>
          </p:cNvPicPr>
          <p:nvPr/>
        </p:nvPicPr>
        <p:blipFill>
          <a:blip r:embed="rId3"/>
          <a:stretch>
            <a:fillRect/>
          </a:stretch>
        </p:blipFill>
        <p:spPr>
          <a:xfrm>
            <a:off x="7759303" y="5751513"/>
            <a:ext cx="228600" cy="228600"/>
          </a:xfrm>
          <a:prstGeom prst="rect">
            <a:avLst/>
          </a:prstGeom>
        </p:spPr>
      </p:pic>
      <p:sp>
        <p:nvSpPr>
          <p:cNvPr id="14" name="Text 9"/>
          <p:cNvSpPr/>
          <p:nvPr/>
        </p:nvSpPr>
        <p:spPr>
          <a:xfrm>
            <a:off x="8102203" y="5700713"/>
            <a:ext cx="1263848"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spc="-19" kern="0" dirty="0">
                <a:solidFill>
                  <a:srgbClr val="2C5BA8"/>
                </a:solidFill>
                <a:latin typeface="Arial" pitchFamily="34" charset="0"/>
                <a:ea typeface="Arial" pitchFamily="34" charset="-122"/>
                <a:cs typeface="Arial" pitchFamily="34" charset="-120"/>
              </a:rPr>
              <a:t>OpenClaw</a:t>
            </a:r>
            <a:endParaRPr lang="en-US" sz="1875" dirty="0"/>
          </a:p>
        </p:txBody>
      </p:sp>
      <p:sp>
        <p:nvSpPr>
          <p:cNvPr id="15" name="Shape 10"/>
          <p:cNvSpPr/>
          <p:nvPr/>
        </p:nvSpPr>
        <p:spPr>
          <a:xfrm>
            <a:off x="800100" y="6592888"/>
            <a:ext cx="2000250" cy="904875"/>
          </a:xfrm>
          <a:prstGeom prst="roundRect">
            <a:avLst>
              <a:gd name="adj" fmla="val 14737"/>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16" name="Text 11"/>
          <p:cNvSpPr/>
          <p:nvPr/>
        </p:nvSpPr>
        <p:spPr>
          <a:xfrm>
            <a:off x="1028700" y="6735763"/>
            <a:ext cx="1619250" cy="279400"/>
          </a:xfrm>
          <a:prstGeom prst="rect">
            <a:avLst/>
          </a:prstGeom>
          <a:noFill/>
          <a:ln/>
        </p:spPr>
        <p:txBody>
          <a:bodyPr wrap="square" lIns="25400" tIns="25400" rIns="25400" bIns="25400" rtlCol="0" anchor="t">
            <a:normAutofit/>
          </a:bodyPr>
          <a:lstStyle/>
          <a:p>
            <a:pPr algn="l" indent="0" marL="0">
              <a:lnSpc>
                <a:spcPct val="140000"/>
              </a:lnSpc>
              <a:buNone/>
            </a:pPr>
            <a:r>
              <a:rPr lang="en-US" sz="1425" spc="114" kern="0" dirty="0">
                <a:solidFill>
                  <a:srgbClr val="6B6E76"/>
                </a:solidFill>
                <a:latin typeface="Courier New" pitchFamily="34" charset="0"/>
                <a:ea typeface="Courier New" pitchFamily="34" charset="-122"/>
                <a:cs typeface="Courier New" pitchFamily="34" charset="-120"/>
              </a:rPr>
              <a:t>TEAM</a:t>
            </a:r>
            <a:endParaRPr lang="en-US" sz="1425" dirty="0"/>
          </a:p>
        </p:txBody>
      </p:sp>
      <p:sp>
        <p:nvSpPr>
          <p:cNvPr id="17" name="Text 12"/>
          <p:cNvSpPr/>
          <p:nvPr/>
        </p:nvSpPr>
        <p:spPr>
          <a:xfrm>
            <a:off x="1028700" y="7024688"/>
            <a:ext cx="1619250"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dirty="0">
                <a:solidFill>
                  <a:srgbClr val="14171C"/>
                </a:solidFill>
                <a:latin typeface="Arial" pitchFamily="34" charset="0"/>
                <a:ea typeface="Arial" pitchFamily="34" charset="-122"/>
                <a:cs typeface="Arial" pitchFamily="34" charset="-120"/>
              </a:rPr>
              <a:t>Codeborough</a:t>
            </a:r>
            <a:endParaRPr lang="en-US" sz="1875" dirty="0"/>
          </a:p>
        </p:txBody>
      </p:sp>
      <p:sp>
        <p:nvSpPr>
          <p:cNvPr id="18" name="Shape 13"/>
          <p:cNvSpPr/>
          <p:nvPr/>
        </p:nvSpPr>
        <p:spPr>
          <a:xfrm>
            <a:off x="2971800" y="6592888"/>
            <a:ext cx="4167585" cy="904875"/>
          </a:xfrm>
          <a:prstGeom prst="roundRect">
            <a:avLst>
              <a:gd name="adj" fmla="val 14737"/>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19" name="Text 14"/>
          <p:cNvSpPr/>
          <p:nvPr/>
        </p:nvSpPr>
        <p:spPr>
          <a:xfrm>
            <a:off x="3200400" y="6735763"/>
            <a:ext cx="3821696" cy="279400"/>
          </a:xfrm>
          <a:prstGeom prst="rect">
            <a:avLst/>
          </a:prstGeom>
          <a:noFill/>
          <a:ln/>
        </p:spPr>
        <p:txBody>
          <a:bodyPr wrap="square" lIns="25400" tIns="25400" rIns="25400" bIns="25400" rtlCol="0" anchor="t">
            <a:normAutofit/>
          </a:bodyPr>
          <a:lstStyle/>
          <a:p>
            <a:pPr algn="l" indent="0" marL="0">
              <a:lnSpc>
                <a:spcPct val="140000"/>
              </a:lnSpc>
              <a:buNone/>
            </a:pPr>
            <a:r>
              <a:rPr lang="en-US" sz="1425" spc="114" kern="0" dirty="0">
                <a:solidFill>
                  <a:srgbClr val="6B6E76"/>
                </a:solidFill>
                <a:latin typeface="Courier New" pitchFamily="34" charset="0"/>
                <a:ea typeface="Courier New" pitchFamily="34" charset="-122"/>
                <a:cs typeface="Courier New" pitchFamily="34" charset="-120"/>
              </a:rPr>
              <a:t>EVENT</a:t>
            </a:r>
            <a:endParaRPr lang="en-US" sz="1425" dirty="0"/>
          </a:p>
        </p:txBody>
      </p:sp>
      <p:sp>
        <p:nvSpPr>
          <p:cNvPr id="20" name="Text 15"/>
          <p:cNvSpPr/>
          <p:nvPr/>
        </p:nvSpPr>
        <p:spPr>
          <a:xfrm>
            <a:off x="3200400" y="7024688"/>
            <a:ext cx="3821696"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dirty="0">
                <a:solidFill>
                  <a:srgbClr val="14171C"/>
                </a:solidFill>
                <a:latin typeface="Arial" pitchFamily="34" charset="0"/>
                <a:ea typeface="Arial" pitchFamily="34" charset="-122"/>
                <a:cs typeface="Arial" pitchFamily="34" charset="-120"/>
              </a:rPr>
              <a:t>NVIDIA Hack for Impact, London</a:t>
            </a:r>
            <a:endParaRPr lang="en-US" sz="1875" dirty="0"/>
          </a:p>
        </p:txBody>
      </p:sp>
      <p:sp>
        <p:nvSpPr>
          <p:cNvPr id="21" name="Shape 16"/>
          <p:cNvSpPr/>
          <p:nvPr/>
        </p:nvSpPr>
        <p:spPr>
          <a:xfrm>
            <a:off x="7310835" y="6592888"/>
            <a:ext cx="2157016" cy="904875"/>
          </a:xfrm>
          <a:prstGeom prst="roundRect">
            <a:avLst>
              <a:gd name="adj" fmla="val 14737"/>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22" name="Text 17"/>
          <p:cNvSpPr/>
          <p:nvPr/>
        </p:nvSpPr>
        <p:spPr>
          <a:xfrm>
            <a:off x="7539435" y="6735763"/>
            <a:ext cx="1776016" cy="279400"/>
          </a:xfrm>
          <a:prstGeom prst="rect">
            <a:avLst/>
          </a:prstGeom>
          <a:noFill/>
          <a:ln/>
        </p:spPr>
        <p:txBody>
          <a:bodyPr wrap="square" lIns="25400" tIns="25400" rIns="25400" bIns="25400" rtlCol="0" anchor="t">
            <a:normAutofit/>
          </a:bodyPr>
          <a:lstStyle/>
          <a:p>
            <a:pPr algn="l" indent="0" marL="0">
              <a:lnSpc>
                <a:spcPct val="140000"/>
              </a:lnSpc>
              <a:buNone/>
            </a:pPr>
            <a:r>
              <a:rPr lang="en-US" sz="1425" spc="114" kern="0" dirty="0">
                <a:solidFill>
                  <a:srgbClr val="6B6E76"/>
                </a:solidFill>
                <a:latin typeface="Courier New" pitchFamily="34" charset="0"/>
                <a:ea typeface="Courier New" pitchFamily="34" charset="-122"/>
                <a:cs typeface="Courier New" pitchFamily="34" charset="-120"/>
              </a:rPr>
              <a:t>TRACK</a:t>
            </a:r>
            <a:endParaRPr lang="en-US" sz="1425" dirty="0"/>
          </a:p>
        </p:txBody>
      </p:sp>
      <p:sp>
        <p:nvSpPr>
          <p:cNvPr id="23" name="Text 18"/>
          <p:cNvSpPr/>
          <p:nvPr/>
        </p:nvSpPr>
        <p:spPr>
          <a:xfrm>
            <a:off x="7539435" y="7024688"/>
            <a:ext cx="1776016"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dirty="0">
                <a:solidFill>
                  <a:srgbClr val="14171C"/>
                </a:solidFill>
                <a:latin typeface="Arial" pitchFamily="34" charset="0"/>
                <a:ea typeface="Arial" pitchFamily="34" charset="-122"/>
                <a:cs typeface="Arial" pitchFamily="34" charset="-120"/>
              </a:rPr>
              <a:t>Public Services</a:t>
            </a:r>
            <a:endParaRPr lang="en-US" sz="1875" dirty="0"/>
          </a:p>
        </p:txBody>
      </p:sp>
      <p:sp>
        <p:nvSpPr>
          <p:cNvPr id="24" name="Shape 19"/>
          <p:cNvSpPr/>
          <p:nvPr/>
        </p:nvSpPr>
        <p:spPr>
          <a:xfrm>
            <a:off x="9639300" y="6592888"/>
            <a:ext cx="3059708" cy="904875"/>
          </a:xfrm>
          <a:prstGeom prst="roundRect">
            <a:avLst>
              <a:gd name="adj" fmla="val 14737"/>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25" name="Text 20"/>
          <p:cNvSpPr/>
          <p:nvPr/>
        </p:nvSpPr>
        <p:spPr>
          <a:xfrm>
            <a:off x="9867900" y="6735763"/>
            <a:ext cx="2680583" cy="279400"/>
          </a:xfrm>
          <a:prstGeom prst="rect">
            <a:avLst/>
          </a:prstGeom>
          <a:noFill/>
          <a:ln/>
        </p:spPr>
        <p:txBody>
          <a:bodyPr wrap="square" lIns="25400" tIns="25400" rIns="25400" bIns="25400" rtlCol="0" anchor="t">
            <a:normAutofit/>
          </a:bodyPr>
          <a:lstStyle/>
          <a:p>
            <a:pPr algn="l" indent="0" marL="0">
              <a:lnSpc>
                <a:spcPct val="140000"/>
              </a:lnSpc>
              <a:buNone/>
            </a:pPr>
            <a:r>
              <a:rPr lang="en-US" sz="1425" spc="114" kern="0" dirty="0">
                <a:solidFill>
                  <a:srgbClr val="6B6E76"/>
                </a:solidFill>
                <a:latin typeface="Courier New" pitchFamily="34" charset="0"/>
                <a:ea typeface="Courier New" pitchFamily="34" charset="-122"/>
                <a:cs typeface="Courier New" pitchFamily="34" charset="-120"/>
              </a:rPr>
              <a:t>BOUNTIES</a:t>
            </a:r>
            <a:endParaRPr lang="en-US" sz="1425" dirty="0"/>
          </a:p>
        </p:txBody>
      </p:sp>
      <p:sp>
        <p:nvSpPr>
          <p:cNvPr id="26" name="Text 21"/>
          <p:cNvSpPr/>
          <p:nvPr/>
        </p:nvSpPr>
        <p:spPr>
          <a:xfrm>
            <a:off x="9867900" y="7024688"/>
            <a:ext cx="2680583"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dirty="0">
                <a:solidFill>
                  <a:srgbClr val="14171C"/>
                </a:solidFill>
                <a:latin typeface="Arial" pitchFamily="34" charset="0"/>
                <a:ea typeface="Arial" pitchFamily="34" charset="-122"/>
                <a:cs typeface="Arial" pitchFamily="34" charset="-120"/>
              </a:rPr>
              <a:t>Nemotron · ElevenLabs</a:t>
            </a:r>
            <a:endParaRPr lang="en-US" sz="1875" dirty="0"/>
          </a:p>
        </p:txBody>
      </p:sp>
      <p:sp>
        <p:nvSpPr>
          <p:cNvPr id="27" name="Text 22"/>
          <p:cNvSpPr/>
          <p:nvPr/>
        </p:nvSpPr>
        <p:spPr>
          <a:xfrm>
            <a:off x="15304096" y="762000"/>
            <a:ext cx="2145705"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dirty="0">
                <a:solidFill>
                  <a:srgbClr val="14171C"/>
                </a:solidFill>
                <a:latin typeface="Arial" pitchFamily="34" charset="0"/>
                <a:ea typeface="Arial" pitchFamily="34" charset="-122"/>
                <a:cs typeface="Arial" pitchFamily="34" charset="-120"/>
              </a:rPr>
              <a:t>100% on the edge</a:t>
            </a:r>
            <a:endParaRPr lang="en-US" sz="2700" dirty="0"/>
          </a:p>
        </p:txBody>
      </p:sp>
      <p:sp>
        <p:nvSpPr>
          <p:cNvPr id="28" name="Shape 23"/>
          <p:cNvSpPr/>
          <p:nvPr/>
        </p:nvSpPr>
        <p:spPr>
          <a:xfrm rot="-119998">
            <a:off x="14392374" y="1271536"/>
            <a:ext cx="2981325" cy="523875"/>
          </a:xfrm>
          <a:prstGeom prst="roundRect">
            <a:avLst>
              <a:gd name="adj" fmla="val 50000"/>
            </a:avLst>
          </a:prstGeom>
          <a:solidFill>
            <a:srgbClr val="FCD5D5"/>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29" name="Shape 24"/>
          <p:cNvSpPr/>
          <p:nvPr/>
        </p:nvSpPr>
        <p:spPr>
          <a:xfrm>
            <a:off x="14600144" y="1496707"/>
            <a:ext cx="157626" cy="157626"/>
          </a:xfrm>
          <a:prstGeom prst="roundRect">
            <a:avLst>
              <a:gd name="adj" fmla="val 24171"/>
            </a:avLst>
          </a:prstGeom>
          <a:solidFill>
            <a:srgbClr val="FFD3A8"/>
          </a:solidFill>
          <a:ln w="19050">
            <a:solidFill>
              <a:srgbClr val="14171C"/>
            </a:solidFill>
            <a:prstDash val="solid"/>
          </a:ln>
        </p:spPr>
      </p:sp>
      <p:sp>
        <p:nvSpPr>
          <p:cNvPr id="30" name="Text 25"/>
          <p:cNvSpPr/>
          <p:nvPr/>
        </p:nvSpPr>
        <p:spPr>
          <a:xfrm>
            <a:off x="14854947" y="1349158"/>
            <a:ext cx="2388772" cy="385069"/>
          </a:xfrm>
          <a:prstGeom prst="rect">
            <a:avLst/>
          </a:prstGeom>
          <a:noFill/>
          <a:ln/>
        </p:spPr>
        <p:txBody>
          <a:bodyPr wrap="square" lIns="0" tIns="0" rIns="0" bIns="0" rtlCol="0" anchor="t">
            <a:normAutofit/>
          </a:bodyPr>
          <a:lstStyle/>
          <a:p>
            <a:pPr algn="l" indent="0" marL="0">
              <a:lnSpc>
                <a:spcPct val="140000"/>
              </a:lnSpc>
              <a:buNone/>
            </a:pPr>
            <a:r>
              <a:rPr lang="en-US" sz="1725" b="1" dirty="0">
                <a:solidFill>
                  <a:srgbClr val="14171C"/>
                </a:solidFill>
                <a:latin typeface="Arial" pitchFamily="34" charset="0"/>
                <a:ea typeface="Arial" pitchFamily="34" charset="-122"/>
                <a:cs typeface="Arial" pitchFamily="34" charset="-120"/>
              </a:rPr>
              <a:t>GB10 Grace Blackwell</a:t>
            </a:r>
            <a:endParaRPr lang="en-US" sz="17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02</a:t>
            </a:r>
            <a:endParaRPr lang="en-US" sz="2100" dirty="0"/>
          </a:p>
        </p:txBody>
      </p:sp>
      <p:sp>
        <p:nvSpPr>
          <p:cNvPr id="4" name="Text 2"/>
          <p:cNvSpPr/>
          <p:nvPr/>
        </p:nvSpPr>
        <p:spPr>
          <a:xfrm>
            <a:off x="1752600" y="784225"/>
            <a:ext cx="2761931"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the gap we keep ignoring</a:t>
            </a:r>
            <a:endParaRPr lang="en-US" sz="2550" dirty="0"/>
          </a:p>
        </p:txBody>
      </p:sp>
      <p:sp>
        <p:nvSpPr>
          <p:cNvPr id="5" name="Text 3"/>
          <p:cNvSpPr/>
          <p:nvPr/>
        </p:nvSpPr>
        <p:spPr>
          <a:xfrm>
            <a:off x="800100" y="1447800"/>
            <a:ext cx="16089630" cy="12319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Commercial maps skip the </a:t>
            </a:r>
            <a:pPr algn="l" indent="0" marL="0">
              <a:lnSpc>
                <a:spcPct val="106000"/>
              </a:lnSpc>
              <a:buNone/>
            </a:pPr>
            <a:r>
              <a:rPr lang="en-US" sz="4500" b="1" spc="-99" kern="0" dirty="0">
                <a:solidFill>
                  <a:srgbClr val="14171C"/>
                </a:solidFill>
                <a:highlight>
                  <a:srgbClr val="F9BDBD"/>
                </a:highlight>
                <a:latin typeface="Arial" pitchFamily="34" charset="0"/>
                <a:ea typeface="Arial" pitchFamily="34" charset="-122"/>
                <a:cs typeface="Arial" pitchFamily="34" charset="-120"/>
              </a:rPr>
              <a:t>civic layer </a:t>
            </a:r>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your council publishes</a:t>
            </a:r>
            <a:endParaRPr lang="en-US" sz="4500" dirty="0"/>
          </a:p>
        </p:txBody>
      </p:sp>
      <p:sp>
        <p:nvSpPr>
          <p:cNvPr id="6" name="Shape 4"/>
          <p:cNvSpPr/>
          <p:nvPr/>
        </p:nvSpPr>
        <p:spPr>
          <a:xfrm>
            <a:off x="800100" y="3041650"/>
            <a:ext cx="5410200" cy="2165350"/>
          </a:xfrm>
          <a:prstGeom prst="roundRect">
            <a:avLst>
              <a:gd name="adj" fmla="val 7918"/>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7" name="Text 5"/>
          <p:cNvSpPr/>
          <p:nvPr/>
        </p:nvSpPr>
        <p:spPr>
          <a:xfrm>
            <a:off x="1104900" y="3308350"/>
            <a:ext cx="494461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NOT A CAFÉ FINDER</a:t>
            </a:r>
            <a:endParaRPr lang="en-US" sz="1500" dirty="0"/>
          </a:p>
        </p:txBody>
      </p:sp>
      <p:sp>
        <p:nvSpPr>
          <p:cNvPr id="8" name="Text 6"/>
          <p:cNvSpPr/>
          <p:nvPr/>
        </p:nvSpPr>
        <p:spPr>
          <a:xfrm>
            <a:off x="1104900" y="3670300"/>
            <a:ext cx="4944618" cy="13081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14171C"/>
                </a:solidFill>
                <a:latin typeface="Arial" pitchFamily="34" charset="0"/>
                <a:ea typeface="Arial" pitchFamily="34" charset="-122"/>
                <a:cs typeface="Arial" pitchFamily="34" charset="-120"/>
              </a:rPr>
              <a:t>Google and Apple already do shops, restaurants and big places well, libraries included. This was never about finding a café.</a:t>
            </a:r>
            <a:endParaRPr lang="en-US" sz="1800" dirty="0"/>
          </a:p>
        </p:txBody>
      </p:sp>
      <p:sp>
        <p:nvSpPr>
          <p:cNvPr id="9" name="Shape 7"/>
          <p:cNvSpPr/>
          <p:nvPr/>
        </p:nvSpPr>
        <p:spPr>
          <a:xfrm>
            <a:off x="6438900" y="3041650"/>
            <a:ext cx="5410200" cy="2165350"/>
          </a:xfrm>
          <a:prstGeom prst="roundRect">
            <a:avLst>
              <a:gd name="adj" fmla="val 7918"/>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0" name="Text 8"/>
          <p:cNvSpPr/>
          <p:nvPr/>
        </p:nvSpPr>
        <p:spPr>
          <a:xfrm>
            <a:off x="6743700" y="3308350"/>
            <a:ext cx="494461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THE CIVIC LAYER IS MISSING</a:t>
            </a:r>
            <a:endParaRPr lang="en-US" sz="1500" dirty="0"/>
          </a:p>
        </p:txBody>
      </p:sp>
      <p:sp>
        <p:nvSpPr>
          <p:cNvPr id="11" name="Text 9"/>
          <p:cNvSpPr/>
          <p:nvPr/>
        </p:nvSpPr>
        <p:spPr>
          <a:xfrm>
            <a:off x="6743700" y="3670300"/>
            <a:ext cx="4944618" cy="13081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14171C"/>
                </a:solidFill>
                <a:latin typeface="Arial" pitchFamily="34" charset="0"/>
                <a:ea typeface="Arial" pitchFamily="34" charset="-122"/>
                <a:cs typeface="Arial" pitchFamily="34" charset="-120"/>
              </a:rPr>
              <a:t>Where you vote, winter grit bins, emergency rest centres, council safety cameras, the access detail on a toilet. Councils publish it; commercial maps don't ingest it.</a:t>
            </a:r>
            <a:endParaRPr lang="en-US" sz="1800" dirty="0"/>
          </a:p>
        </p:txBody>
      </p:sp>
      <p:sp>
        <p:nvSpPr>
          <p:cNvPr id="12" name="Shape 10"/>
          <p:cNvSpPr/>
          <p:nvPr/>
        </p:nvSpPr>
        <p:spPr>
          <a:xfrm>
            <a:off x="12077700" y="3041650"/>
            <a:ext cx="5410200" cy="2165350"/>
          </a:xfrm>
          <a:prstGeom prst="roundRect">
            <a:avLst>
              <a:gd name="adj" fmla="val 7918"/>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3" name="Text 11"/>
          <p:cNvSpPr/>
          <p:nvPr/>
        </p:nvSpPr>
        <p:spPr>
          <a:xfrm>
            <a:off x="12382500" y="3308350"/>
            <a:ext cx="494461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SCATTERED ACROSS 33 PORTALS</a:t>
            </a:r>
            <a:endParaRPr lang="en-US" sz="1500" dirty="0"/>
          </a:p>
        </p:txBody>
      </p:sp>
      <p:sp>
        <p:nvSpPr>
          <p:cNvPr id="14" name="Text 12"/>
          <p:cNvSpPr/>
          <p:nvPr/>
        </p:nvSpPr>
        <p:spPr>
          <a:xfrm>
            <a:off x="12382500" y="3670300"/>
            <a:ext cx="4944618"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14171C"/>
                </a:solidFill>
                <a:latin typeface="Arial" pitchFamily="34" charset="0"/>
                <a:ea typeface="Arial" pitchFamily="34" charset="-122"/>
                <a:cs typeface="Arial" pitchFamily="34" charset="-120"/>
              </a:rPr>
              <a:t>It's open data, but spread across 33 separate council portals and impossible to query in plain language.</a:t>
            </a:r>
            <a:endParaRPr lang="en-US" sz="1800" dirty="0"/>
          </a:p>
        </p:txBody>
      </p:sp>
      <p:sp>
        <p:nvSpPr>
          <p:cNvPr id="15" name="Shape 13"/>
          <p:cNvSpPr/>
          <p:nvPr/>
        </p:nvSpPr>
        <p:spPr>
          <a:xfrm>
            <a:off x="800100" y="5530850"/>
            <a:ext cx="13631664" cy="1587500"/>
          </a:xfrm>
          <a:prstGeom prst="roundRect">
            <a:avLst>
              <a:gd name="adj" fmla="val 10800"/>
            </a:avLst>
          </a:prstGeom>
          <a:solidFill>
            <a:srgbClr val="FCD5D5"/>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6" name="Text 14"/>
          <p:cNvSpPr/>
          <p:nvPr/>
        </p:nvSpPr>
        <p:spPr>
          <a:xfrm>
            <a:off x="1104900" y="5797550"/>
            <a:ext cx="1341272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B23B3B"/>
                </a:solidFill>
                <a:latin typeface="Courier New" pitchFamily="34" charset="0"/>
                <a:ea typeface="Courier New" pitchFamily="34" charset="-122"/>
                <a:cs typeface="Courier New" pitchFamily="34" charset="-120"/>
              </a:rPr>
              <a:t>THE EQUITY GAP</a:t>
            </a:r>
            <a:endParaRPr lang="en-US" sz="1500" dirty="0"/>
          </a:p>
        </p:txBody>
      </p:sp>
      <p:sp>
        <p:nvSpPr>
          <p:cNvPr id="17" name="Text 15"/>
          <p:cNvSpPr/>
          <p:nvPr/>
        </p:nvSpPr>
        <p:spPr>
          <a:xfrm>
            <a:off x="1104900" y="6140450"/>
            <a:ext cx="13412726" cy="749300"/>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4171C"/>
                </a:solidFill>
                <a:latin typeface="Arial" pitchFamily="34" charset="0"/>
                <a:ea typeface="Arial" pitchFamily="34" charset="-122"/>
                <a:cs typeface="Arial" pitchFamily="34" charset="-120"/>
              </a:rPr>
              <a:t>Hardest for the people who most need it: new arrivals, the elderly, the visually impaired, and the privacy-conscious.</a:t>
            </a:r>
            <a:endParaRPr lang="en-US" sz="2025" dirty="0"/>
          </a:p>
        </p:txBody>
      </p:sp>
      <p:sp>
        <p:nvSpPr>
          <p:cNvPr id="18" name="Text 16"/>
          <p:cNvSpPr/>
          <p:nvPr/>
        </p:nvSpPr>
        <p:spPr>
          <a:xfrm>
            <a:off x="14717514" y="6134100"/>
            <a:ext cx="2853498"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B6E76"/>
                </a:solidFill>
                <a:latin typeface="Arial" pitchFamily="34" charset="0"/>
                <a:ea typeface="Arial" pitchFamily="34" charset="-122"/>
                <a:cs typeface="Arial" pitchFamily="34" charset="-120"/>
              </a:rPr>
              <a:t>the layer maps forget</a:t>
            </a:r>
            <a:endParaRPr lang="en-US" sz="3000" dirty="0"/>
          </a:p>
        </p:txBody>
      </p:sp>
      <p:sp>
        <p:nvSpPr>
          <p:cNvPr id="19" name="Text 17"/>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20" name="Text 18"/>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02 / 12</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03</a:t>
            </a:r>
            <a:endParaRPr lang="en-US" sz="2100" dirty="0"/>
          </a:p>
        </p:txBody>
      </p:sp>
      <p:sp>
        <p:nvSpPr>
          <p:cNvPr id="4" name="Text 2"/>
          <p:cNvSpPr/>
          <p:nvPr/>
        </p:nvSpPr>
        <p:spPr>
          <a:xfrm>
            <a:off x="1752600" y="784225"/>
            <a:ext cx="1560513"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what we built</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A voice concierge that runs </a:t>
            </a:r>
            <a:pPr algn="l" indent="0" marL="0">
              <a:lnSpc>
                <a:spcPct val="106000"/>
              </a:lnSpc>
              <a:buNone/>
            </a:pPr>
            <a:r>
              <a:rPr lang="en-US" sz="4500" b="1" spc="-99" kern="0" dirty="0">
                <a:solidFill>
                  <a:srgbClr val="14171C"/>
                </a:solidFill>
                <a:highlight>
                  <a:srgbClr val="A8E3A6"/>
                </a:highlight>
                <a:latin typeface="Arial" pitchFamily="34" charset="0"/>
                <a:ea typeface="Arial" pitchFamily="34" charset="-122"/>
                <a:cs typeface="Arial" pitchFamily="34" charset="-120"/>
              </a:rPr>
              <a:t>on the edge</a:t>
            </a:r>
            <a:endParaRPr lang="en-US" sz="4500" dirty="0"/>
          </a:p>
        </p:txBody>
      </p:sp>
      <p:sp>
        <p:nvSpPr>
          <p:cNvPr id="6" name="Text 4"/>
          <p:cNvSpPr/>
          <p:nvPr/>
        </p:nvSpPr>
        <p:spPr>
          <a:xfrm>
            <a:off x="800100" y="2235200"/>
            <a:ext cx="15304770" cy="749300"/>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4171C"/>
                </a:solidFill>
                <a:latin typeface="Arial" pitchFamily="34" charset="0"/>
                <a:ea typeface="Arial" pitchFamily="34" charset="-122"/>
                <a:cs typeface="Arial" pitchFamily="34" charset="-120"/>
              </a:rPr>
              <a:t>Built on OpenClaw, grounded in real City of London open data, running entirely on an NVIDIA DGX Spark / ZGX Nano (GB10) .</a:t>
            </a:r>
            <a:endParaRPr lang="en-US" sz="2025" dirty="0"/>
          </a:p>
        </p:txBody>
      </p:sp>
      <p:sp>
        <p:nvSpPr>
          <p:cNvPr id="7" name="Shape 5"/>
          <p:cNvSpPr/>
          <p:nvPr/>
        </p:nvSpPr>
        <p:spPr>
          <a:xfrm>
            <a:off x="800100" y="3270250"/>
            <a:ext cx="4014788" cy="2260600"/>
          </a:xfrm>
          <a:prstGeom prst="roundRect">
            <a:avLst>
              <a:gd name="adj" fmla="val 7584"/>
            </a:avLst>
          </a:prstGeom>
          <a:solidFill>
            <a:srgbClr val="FFD3A8"/>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8" name="Text 6"/>
          <p:cNvSpPr/>
          <p:nvPr/>
        </p:nvSpPr>
        <p:spPr>
          <a:xfrm>
            <a:off x="1104900" y="3536950"/>
            <a:ext cx="3507343"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VOICE</a:t>
            </a:r>
            <a:endParaRPr lang="en-US" sz="1500" dirty="0"/>
          </a:p>
        </p:txBody>
      </p:sp>
      <p:sp>
        <p:nvSpPr>
          <p:cNvPr id="9" name="Text 7"/>
          <p:cNvSpPr/>
          <p:nvPr/>
        </p:nvSpPr>
        <p:spPr>
          <a:xfrm>
            <a:off x="1104900" y="3879850"/>
            <a:ext cx="3507343"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ElevenLabs</a:t>
            </a:r>
            <a:endParaRPr lang="en-US" sz="2250" dirty="0"/>
          </a:p>
        </p:txBody>
      </p:sp>
      <p:sp>
        <p:nvSpPr>
          <p:cNvPr id="10" name="Text 8"/>
          <p:cNvSpPr/>
          <p:nvPr/>
        </p:nvSpPr>
        <p:spPr>
          <a:xfrm>
            <a:off x="1104900" y="4311650"/>
            <a:ext cx="3507343"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Speak naturally and hear a spoken answer back. Scribe STT in, Eleven v3 TTS out.</a:t>
            </a:r>
            <a:endParaRPr lang="en-US" sz="1800" dirty="0"/>
          </a:p>
        </p:txBody>
      </p:sp>
      <p:sp>
        <p:nvSpPr>
          <p:cNvPr id="11" name="Shape 9"/>
          <p:cNvSpPr/>
          <p:nvPr/>
        </p:nvSpPr>
        <p:spPr>
          <a:xfrm>
            <a:off x="5024438" y="3270250"/>
            <a:ext cx="4014788" cy="2260600"/>
          </a:xfrm>
          <a:prstGeom prst="roundRect">
            <a:avLst>
              <a:gd name="adj" fmla="val 7584"/>
            </a:avLst>
          </a:prstGeom>
          <a:solidFill>
            <a:srgbClr val="D2F0E6"/>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2" name="Text 10"/>
          <p:cNvSpPr/>
          <p:nvPr/>
        </p:nvSpPr>
        <p:spPr>
          <a:xfrm>
            <a:off x="5329238" y="3536950"/>
            <a:ext cx="3507343"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BRAIN</a:t>
            </a:r>
            <a:endParaRPr lang="en-US" sz="1500" dirty="0"/>
          </a:p>
        </p:txBody>
      </p:sp>
      <p:sp>
        <p:nvSpPr>
          <p:cNvPr id="13" name="Text 11"/>
          <p:cNvSpPr/>
          <p:nvPr/>
        </p:nvSpPr>
        <p:spPr>
          <a:xfrm>
            <a:off x="5329238" y="3879850"/>
            <a:ext cx="3507343"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Nemotron 3</a:t>
            </a:r>
            <a:endParaRPr lang="en-US" sz="2250" dirty="0"/>
          </a:p>
        </p:txBody>
      </p:sp>
      <p:sp>
        <p:nvSpPr>
          <p:cNvPr id="14" name="Text 12"/>
          <p:cNvSpPr/>
          <p:nvPr/>
        </p:nvSpPr>
        <p:spPr>
          <a:xfrm>
            <a:off x="5329238" y="4311650"/>
            <a:ext cx="3507343"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Reasons over your question and decides which civic tools to call.</a:t>
            </a:r>
            <a:endParaRPr lang="en-US" sz="1800" dirty="0"/>
          </a:p>
        </p:txBody>
      </p:sp>
      <p:sp>
        <p:nvSpPr>
          <p:cNvPr id="15" name="Shape 13"/>
          <p:cNvSpPr/>
          <p:nvPr/>
        </p:nvSpPr>
        <p:spPr>
          <a:xfrm>
            <a:off x="9248775" y="3270250"/>
            <a:ext cx="4014788" cy="2260600"/>
          </a:xfrm>
          <a:prstGeom prst="roundRect">
            <a:avLst>
              <a:gd name="adj" fmla="val 7584"/>
            </a:avLst>
          </a:prstGeom>
          <a:solidFill>
            <a:srgbClr val="E6DFFD"/>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6" name="Text 14"/>
          <p:cNvSpPr/>
          <p:nvPr/>
        </p:nvSpPr>
        <p:spPr>
          <a:xfrm>
            <a:off x="9553575" y="3536950"/>
            <a:ext cx="3507343"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GROUNDING</a:t>
            </a:r>
            <a:endParaRPr lang="en-US" sz="1500" dirty="0"/>
          </a:p>
        </p:txBody>
      </p:sp>
      <p:sp>
        <p:nvSpPr>
          <p:cNvPr id="17" name="Text 15"/>
          <p:cNvSpPr/>
          <p:nvPr/>
        </p:nvSpPr>
        <p:spPr>
          <a:xfrm>
            <a:off x="9553575" y="3879850"/>
            <a:ext cx="3507343"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civic-geo</a:t>
            </a:r>
            <a:endParaRPr lang="en-US" sz="2250" dirty="0"/>
          </a:p>
        </p:txBody>
      </p:sp>
      <p:sp>
        <p:nvSpPr>
          <p:cNvPr id="18" name="Text 16"/>
          <p:cNvSpPr/>
          <p:nvPr/>
        </p:nvSpPr>
        <p:spPr>
          <a:xfrm>
            <a:off x="9553575" y="4311650"/>
            <a:ext cx="3507343"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Our plugin queries local London data. No guessing, no invented places.</a:t>
            </a:r>
            <a:endParaRPr lang="en-US" sz="1800" dirty="0"/>
          </a:p>
        </p:txBody>
      </p:sp>
      <p:sp>
        <p:nvSpPr>
          <p:cNvPr id="19" name="Shape 17"/>
          <p:cNvSpPr/>
          <p:nvPr/>
        </p:nvSpPr>
        <p:spPr>
          <a:xfrm>
            <a:off x="13473113" y="3270250"/>
            <a:ext cx="4014788" cy="2260600"/>
          </a:xfrm>
          <a:prstGeom prst="roundRect">
            <a:avLst>
              <a:gd name="adj" fmla="val 7584"/>
            </a:avLst>
          </a:prstGeom>
          <a:solidFill>
            <a:srgbClr val="D5E6FA"/>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20" name="Text 18"/>
          <p:cNvSpPr/>
          <p:nvPr/>
        </p:nvSpPr>
        <p:spPr>
          <a:xfrm>
            <a:off x="13777913" y="3536950"/>
            <a:ext cx="3507343"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MEMORY</a:t>
            </a:r>
            <a:endParaRPr lang="en-US" sz="1500" dirty="0"/>
          </a:p>
        </p:txBody>
      </p:sp>
      <p:sp>
        <p:nvSpPr>
          <p:cNvPr id="21" name="Text 19"/>
          <p:cNvSpPr/>
          <p:nvPr/>
        </p:nvSpPr>
        <p:spPr>
          <a:xfrm>
            <a:off x="13777913" y="3879850"/>
            <a:ext cx="3507343"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One session</a:t>
            </a:r>
            <a:endParaRPr lang="en-US" sz="2250" dirty="0"/>
          </a:p>
        </p:txBody>
      </p:sp>
      <p:sp>
        <p:nvSpPr>
          <p:cNvPr id="22" name="Text 20"/>
          <p:cNvSpPr/>
          <p:nvPr/>
        </p:nvSpPr>
        <p:spPr>
          <a:xfrm>
            <a:off x="13777913" y="4311650"/>
            <a:ext cx="3507343"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A single long conversation that recalls your situation across earlier turns.</a:t>
            </a:r>
            <a:endParaRPr lang="en-US" sz="1800" dirty="0"/>
          </a:p>
        </p:txBody>
      </p:sp>
      <p:sp>
        <p:nvSpPr>
          <p:cNvPr id="23" name="Text 21"/>
          <p:cNvSpPr/>
          <p:nvPr/>
        </p:nvSpPr>
        <p:spPr>
          <a:xfrm>
            <a:off x="800100" y="5816600"/>
            <a:ext cx="2719622"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dirty="0">
                <a:solidFill>
                  <a:srgbClr val="6B6E76"/>
                </a:solidFill>
                <a:latin typeface="Arial" pitchFamily="34" charset="0"/>
                <a:ea typeface="Arial" pitchFamily="34" charset="-122"/>
                <a:cs typeface="Arial" pitchFamily="34" charset="-120"/>
              </a:rPr>
              <a:t>four parts, one box →</a:t>
            </a:r>
            <a:endParaRPr lang="en-US" sz="2700" dirty="0"/>
          </a:p>
        </p:txBody>
      </p:sp>
      <p:sp>
        <p:nvSpPr>
          <p:cNvPr id="24" name="Text 22"/>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25" name="Text 23"/>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03 / 12</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04</a:t>
            </a:r>
            <a:endParaRPr lang="en-US" sz="2100" dirty="0"/>
          </a:p>
        </p:txBody>
      </p:sp>
      <p:sp>
        <p:nvSpPr>
          <p:cNvPr id="4" name="Text 2"/>
          <p:cNvSpPr/>
          <p:nvPr/>
        </p:nvSpPr>
        <p:spPr>
          <a:xfrm>
            <a:off x="1752600" y="784225"/>
            <a:ext cx="1434902"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what it does</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Three things it does</a:t>
            </a:r>
            <a:endParaRPr lang="en-US" sz="4500" dirty="0"/>
          </a:p>
        </p:txBody>
      </p:sp>
      <p:sp>
        <p:nvSpPr>
          <p:cNvPr id="6" name="Shape 4"/>
          <p:cNvSpPr/>
          <p:nvPr/>
        </p:nvSpPr>
        <p:spPr>
          <a:xfrm>
            <a:off x="800100" y="2463800"/>
            <a:ext cx="5397500" cy="3257550"/>
          </a:xfrm>
          <a:prstGeom prst="roundRect">
            <a:avLst>
              <a:gd name="adj" fmla="val 5263"/>
            </a:avLst>
          </a:prstGeom>
          <a:solidFill>
            <a:srgbClr val="D5E6FA"/>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7" name="Shape 5"/>
          <p:cNvSpPr/>
          <p:nvPr/>
        </p:nvSpPr>
        <p:spPr>
          <a:xfrm>
            <a:off x="1104900" y="2730500"/>
            <a:ext cx="571500" cy="571500"/>
          </a:xfrm>
          <a:prstGeom prst="ellipse">
            <a:avLst/>
          </a:prstGeom>
          <a:solidFill>
            <a:srgbClr val="14171C"/>
          </a:solidFill>
          <a:ln/>
        </p:spPr>
      </p:sp>
      <p:sp>
        <p:nvSpPr>
          <p:cNvPr id="8" name="Text 6"/>
          <p:cNvSpPr/>
          <p:nvPr/>
        </p:nvSpPr>
        <p:spPr>
          <a:xfrm>
            <a:off x="1066800" y="2730500"/>
            <a:ext cx="647700" cy="60960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FDF6E3"/>
                </a:solidFill>
                <a:latin typeface="Arial" pitchFamily="34" charset="0"/>
                <a:ea typeface="Arial" pitchFamily="34" charset="-122"/>
                <a:cs typeface="Arial" pitchFamily="34" charset="-120"/>
              </a:rPr>
              <a:t>1</a:t>
            </a:r>
            <a:endParaRPr lang="en-US" sz="2100" dirty="0"/>
          </a:p>
        </p:txBody>
      </p:sp>
      <p:sp>
        <p:nvSpPr>
          <p:cNvPr id="9" name="Text 7"/>
          <p:cNvSpPr/>
          <p:nvPr/>
        </p:nvSpPr>
        <p:spPr>
          <a:xfrm>
            <a:off x="1828800" y="2882900"/>
            <a:ext cx="246558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FIND WHAT MAPS MISS</a:t>
            </a:r>
            <a:endParaRPr lang="en-US" sz="1500" dirty="0"/>
          </a:p>
        </p:txBody>
      </p:sp>
      <p:sp>
        <p:nvSpPr>
          <p:cNvPr id="10" name="Text 8"/>
          <p:cNvSpPr/>
          <p:nvPr/>
        </p:nvSpPr>
        <p:spPr>
          <a:xfrm>
            <a:off x="1104900" y="3435350"/>
            <a:ext cx="4931537" cy="6731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The civic thing commercial maps skip</a:t>
            </a:r>
            <a:endParaRPr lang="en-US" sz="2250" dirty="0"/>
          </a:p>
        </p:txBody>
      </p:sp>
      <p:sp>
        <p:nvSpPr>
          <p:cNvPr id="11" name="Text 9"/>
          <p:cNvSpPr/>
          <p:nvPr/>
        </p:nvSpPr>
        <p:spPr>
          <a:xfrm>
            <a:off x="1104900" y="4184650"/>
            <a:ext cx="4931537" cy="13081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The nearest polling station, rest centre, library or accessible public toilet, and a route to it.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Honest note: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the nearest facility, not your assigned catchment yet.</a:t>
            </a:r>
            <a:endParaRPr lang="en-US" sz="1800" dirty="0"/>
          </a:p>
        </p:txBody>
      </p:sp>
      <p:sp>
        <p:nvSpPr>
          <p:cNvPr id="12" name="Shape 10"/>
          <p:cNvSpPr/>
          <p:nvPr/>
        </p:nvSpPr>
        <p:spPr>
          <a:xfrm>
            <a:off x="6445250" y="2463800"/>
            <a:ext cx="5397500" cy="3257550"/>
          </a:xfrm>
          <a:prstGeom prst="roundRect">
            <a:avLst>
              <a:gd name="adj" fmla="val 5263"/>
            </a:avLst>
          </a:prstGeom>
          <a:solidFill>
            <a:srgbClr val="E6DFFD"/>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3" name="Shape 11"/>
          <p:cNvSpPr/>
          <p:nvPr/>
        </p:nvSpPr>
        <p:spPr>
          <a:xfrm>
            <a:off x="6750050" y="2730500"/>
            <a:ext cx="571500" cy="571500"/>
          </a:xfrm>
          <a:prstGeom prst="ellipse">
            <a:avLst/>
          </a:prstGeom>
          <a:solidFill>
            <a:srgbClr val="14171C"/>
          </a:solidFill>
          <a:ln/>
        </p:spPr>
      </p:sp>
      <p:sp>
        <p:nvSpPr>
          <p:cNvPr id="14" name="Text 12"/>
          <p:cNvSpPr/>
          <p:nvPr/>
        </p:nvSpPr>
        <p:spPr>
          <a:xfrm>
            <a:off x="6711950" y="2730500"/>
            <a:ext cx="647700" cy="60960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FDF6E3"/>
                </a:solidFill>
                <a:latin typeface="Arial" pitchFamily="34" charset="0"/>
                <a:ea typeface="Arial" pitchFamily="34" charset="-122"/>
                <a:cs typeface="Arial" pitchFamily="34" charset="-120"/>
              </a:rPr>
              <a:t>2</a:t>
            </a:r>
            <a:endParaRPr lang="en-US" sz="2100" dirty="0"/>
          </a:p>
        </p:txBody>
      </p:sp>
      <p:sp>
        <p:nvSpPr>
          <p:cNvPr id="15" name="Text 13"/>
          <p:cNvSpPr/>
          <p:nvPr/>
        </p:nvSpPr>
        <p:spPr>
          <a:xfrm>
            <a:off x="7473950" y="2882900"/>
            <a:ext cx="246558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GET ME THERE SAFELY</a:t>
            </a:r>
            <a:endParaRPr lang="en-US" sz="1500" dirty="0"/>
          </a:p>
        </p:txBody>
      </p:sp>
      <p:sp>
        <p:nvSpPr>
          <p:cNvPr id="16" name="Text 14"/>
          <p:cNvSpPr/>
          <p:nvPr/>
        </p:nvSpPr>
        <p:spPr>
          <a:xfrm>
            <a:off x="6750050" y="3435350"/>
            <a:ext cx="4931537" cy="6731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Routes over monitored, well-served streets</a:t>
            </a:r>
            <a:endParaRPr lang="en-US" sz="2250" dirty="0"/>
          </a:p>
        </p:txBody>
      </p:sp>
      <p:sp>
        <p:nvSpPr>
          <p:cNvPr id="17" name="Text 15"/>
          <p:cNvSpPr/>
          <p:nvPr/>
        </p:nvSpPr>
        <p:spPr>
          <a:xfrm>
            <a:off x="6750050" y="4184650"/>
            <a:ext cx="4931537" cy="13081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Prefers busy roads with CCTV and grit bins.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Honest note: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this CCTV is mostly traffic / town cameras, busy roads, not crime surveillance.</a:t>
            </a:r>
            <a:endParaRPr lang="en-US" sz="1800" dirty="0"/>
          </a:p>
        </p:txBody>
      </p:sp>
      <p:sp>
        <p:nvSpPr>
          <p:cNvPr id="18" name="Shape 16"/>
          <p:cNvSpPr/>
          <p:nvPr/>
        </p:nvSpPr>
        <p:spPr>
          <a:xfrm>
            <a:off x="12090400" y="2463800"/>
            <a:ext cx="5397500" cy="3257550"/>
          </a:xfrm>
          <a:prstGeom prst="roundRect">
            <a:avLst>
              <a:gd name="adj" fmla="val 5263"/>
            </a:avLst>
          </a:prstGeom>
          <a:solidFill>
            <a:srgbClr val="D2F0E6"/>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9" name="Shape 17"/>
          <p:cNvSpPr/>
          <p:nvPr/>
        </p:nvSpPr>
        <p:spPr>
          <a:xfrm>
            <a:off x="12395200" y="2730500"/>
            <a:ext cx="571500" cy="571500"/>
          </a:xfrm>
          <a:prstGeom prst="ellipse">
            <a:avLst/>
          </a:prstGeom>
          <a:solidFill>
            <a:srgbClr val="14171C"/>
          </a:solidFill>
          <a:ln/>
        </p:spPr>
      </p:sp>
      <p:sp>
        <p:nvSpPr>
          <p:cNvPr id="20" name="Text 18"/>
          <p:cNvSpPr/>
          <p:nvPr/>
        </p:nvSpPr>
        <p:spPr>
          <a:xfrm>
            <a:off x="12357100" y="2730500"/>
            <a:ext cx="647700" cy="60960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FDF6E3"/>
                </a:solidFill>
                <a:latin typeface="Arial" pitchFamily="34" charset="0"/>
                <a:ea typeface="Arial" pitchFamily="34" charset="-122"/>
                <a:cs typeface="Arial" pitchFamily="34" charset="-120"/>
              </a:rPr>
              <a:t>3</a:t>
            </a:r>
            <a:endParaRPr lang="en-US" sz="2100" dirty="0"/>
          </a:p>
        </p:txBody>
      </p:sp>
      <p:sp>
        <p:nvSpPr>
          <p:cNvPr id="21" name="Text 19"/>
          <p:cNvSpPr/>
          <p:nvPr/>
        </p:nvSpPr>
        <p:spPr>
          <a:xfrm>
            <a:off x="13119100" y="2882900"/>
            <a:ext cx="208835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TELL ME ABOUT IT</a:t>
            </a:r>
            <a:endParaRPr lang="en-US" sz="1500" dirty="0"/>
          </a:p>
        </p:txBody>
      </p:sp>
      <p:sp>
        <p:nvSpPr>
          <p:cNvPr id="22" name="Text 20"/>
          <p:cNvSpPr/>
          <p:nvPr/>
        </p:nvSpPr>
        <p:spPr>
          <a:xfrm>
            <a:off x="12395200" y="3435350"/>
            <a:ext cx="4931537"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Hours, access, and what's there</a:t>
            </a:r>
            <a:endParaRPr lang="en-US" sz="2250" dirty="0"/>
          </a:p>
        </p:txBody>
      </p:sp>
      <p:sp>
        <p:nvSpPr>
          <p:cNvPr id="23" name="Text 21"/>
          <p:cNvSpPr/>
          <p:nvPr/>
        </p:nvSpPr>
        <p:spPr>
          <a:xfrm>
            <a:off x="12395200" y="3867150"/>
            <a:ext cx="4931537"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Opening hours, step-free access and what a place actually offers, answered out loud, on the spot.</a:t>
            </a:r>
            <a:endParaRPr lang="en-US" sz="1800" dirty="0"/>
          </a:p>
        </p:txBody>
      </p:sp>
      <p:sp>
        <p:nvSpPr>
          <p:cNvPr id="24" name="Text 22"/>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25" name="Text 23"/>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04 / 12</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05</a:t>
            </a:r>
            <a:endParaRPr lang="en-US" sz="2100" dirty="0"/>
          </a:p>
        </p:txBody>
      </p:sp>
      <p:sp>
        <p:nvSpPr>
          <p:cNvPr id="4" name="Text 2"/>
          <p:cNvSpPr/>
          <p:nvPr/>
        </p:nvSpPr>
        <p:spPr>
          <a:xfrm>
            <a:off x="1752600" y="784225"/>
            <a:ext cx="2558653"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why it runs on the box</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Everything but the voice </a:t>
            </a:r>
            <a:pPr algn="l" indent="0" marL="0">
              <a:lnSpc>
                <a:spcPct val="106000"/>
              </a:lnSpc>
              <a:buNone/>
            </a:pPr>
            <a:r>
              <a:rPr lang="en-US" sz="4500" b="1" spc="-99" kern="0" dirty="0">
                <a:solidFill>
                  <a:srgbClr val="14171C"/>
                </a:solidFill>
                <a:highlight>
                  <a:srgbClr val="AFD2FA"/>
                </a:highlight>
                <a:latin typeface="Arial" pitchFamily="34" charset="0"/>
                <a:ea typeface="Arial" pitchFamily="34" charset="-122"/>
                <a:cs typeface="Arial" pitchFamily="34" charset="-120"/>
              </a:rPr>
              <a:t>stays on the device</a:t>
            </a:r>
            <a:endParaRPr lang="en-US" sz="4500" dirty="0"/>
          </a:p>
        </p:txBody>
      </p:sp>
      <p:sp>
        <p:nvSpPr>
          <p:cNvPr id="6" name="Shape 4"/>
          <p:cNvSpPr/>
          <p:nvPr/>
        </p:nvSpPr>
        <p:spPr>
          <a:xfrm>
            <a:off x="800100" y="2444750"/>
            <a:ext cx="5410200" cy="2260600"/>
          </a:xfrm>
          <a:prstGeom prst="roundRect">
            <a:avLst>
              <a:gd name="adj" fmla="val 7584"/>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7" name="Text 5"/>
          <p:cNvSpPr/>
          <p:nvPr/>
        </p:nvSpPr>
        <p:spPr>
          <a:xfrm>
            <a:off x="1104900" y="2711450"/>
            <a:ext cx="494461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2C5BA8"/>
                </a:solidFill>
                <a:latin typeface="Courier New" pitchFamily="34" charset="0"/>
                <a:ea typeface="Courier New" pitchFamily="34" charset="-122"/>
                <a:cs typeface="Courier New" pitchFamily="34" charset="-120"/>
              </a:rPr>
              <a:t>PRIVACY</a:t>
            </a:r>
            <a:endParaRPr lang="en-US" sz="1500" dirty="0"/>
          </a:p>
        </p:txBody>
      </p:sp>
      <p:sp>
        <p:nvSpPr>
          <p:cNvPr id="8" name="Text 6"/>
          <p:cNvSpPr/>
          <p:nvPr/>
        </p:nvSpPr>
        <p:spPr>
          <a:xfrm>
            <a:off x="1104900" y="3054350"/>
            <a:ext cx="4944618"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Your location never leaves</a:t>
            </a:r>
            <a:endParaRPr lang="en-US" sz="2250" dirty="0"/>
          </a:p>
        </p:txBody>
      </p:sp>
      <p:sp>
        <p:nvSpPr>
          <p:cNvPr id="9" name="Text 7"/>
          <p:cNvSpPr/>
          <p:nvPr/>
        </p:nvSpPr>
        <p:spPr>
          <a:xfrm>
            <a:off x="1104900" y="3486150"/>
            <a:ext cx="4944618"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Queries and location stay on the device. Nothing about you goes to the cloud but the voice audio itself.</a:t>
            </a:r>
            <a:endParaRPr lang="en-US" sz="1800" dirty="0"/>
          </a:p>
        </p:txBody>
      </p:sp>
      <p:sp>
        <p:nvSpPr>
          <p:cNvPr id="10" name="Shape 8"/>
          <p:cNvSpPr/>
          <p:nvPr/>
        </p:nvSpPr>
        <p:spPr>
          <a:xfrm>
            <a:off x="6438900" y="2444750"/>
            <a:ext cx="5410200" cy="2260600"/>
          </a:xfrm>
          <a:prstGeom prst="roundRect">
            <a:avLst>
              <a:gd name="adj" fmla="val 7584"/>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1" name="Text 9"/>
          <p:cNvSpPr/>
          <p:nvPr/>
        </p:nvSpPr>
        <p:spPr>
          <a:xfrm>
            <a:off x="6743700" y="2711450"/>
            <a:ext cx="494461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4FAE"/>
                </a:solidFill>
                <a:latin typeface="Courier New" pitchFamily="34" charset="0"/>
                <a:ea typeface="Courier New" pitchFamily="34" charset="-122"/>
                <a:cs typeface="Courier New" pitchFamily="34" charset="-120"/>
              </a:rPr>
              <a:t>RICHER ANSWERS</a:t>
            </a:r>
            <a:endParaRPr lang="en-US" sz="1500" dirty="0"/>
          </a:p>
        </p:txBody>
      </p:sp>
      <p:sp>
        <p:nvSpPr>
          <p:cNvPr id="12" name="Text 10"/>
          <p:cNvSpPr/>
          <p:nvPr/>
        </p:nvSpPr>
        <p:spPr>
          <a:xfrm>
            <a:off x="6743700" y="3054350"/>
            <a:ext cx="4944618"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Detail a map app can't reach</a:t>
            </a:r>
            <a:endParaRPr lang="en-US" sz="2250" dirty="0"/>
          </a:p>
        </p:txBody>
      </p:sp>
      <p:sp>
        <p:nvSpPr>
          <p:cNvPr id="13" name="Text 11"/>
          <p:cNvSpPr/>
          <p:nvPr/>
        </p:nvSpPr>
        <p:spPr>
          <a:xfrm>
            <a:off x="6743700" y="3486150"/>
            <a:ext cx="4944618"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Local civic datasets surface accessibility, hours and coverage that generic map tools simply don't hold.</a:t>
            </a:r>
            <a:endParaRPr lang="en-US" sz="1800" dirty="0"/>
          </a:p>
        </p:txBody>
      </p:sp>
      <p:sp>
        <p:nvSpPr>
          <p:cNvPr id="14" name="Shape 12"/>
          <p:cNvSpPr/>
          <p:nvPr/>
        </p:nvSpPr>
        <p:spPr>
          <a:xfrm>
            <a:off x="12077700" y="2444750"/>
            <a:ext cx="5410200" cy="2260600"/>
          </a:xfrm>
          <a:prstGeom prst="roundRect">
            <a:avLst>
              <a:gd name="adj" fmla="val 7584"/>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5" name="Text 13"/>
          <p:cNvSpPr/>
          <p:nvPr/>
        </p:nvSpPr>
        <p:spPr>
          <a:xfrm>
            <a:off x="12382500" y="2711450"/>
            <a:ext cx="494461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3F7D5E"/>
                </a:solidFill>
                <a:latin typeface="Courier New" pitchFamily="34" charset="0"/>
                <a:ea typeface="Courier New" pitchFamily="34" charset="-122"/>
                <a:cs typeface="Courier New" pitchFamily="34" charset="-120"/>
              </a:rPr>
              <a:t>ANYWHERE</a:t>
            </a:r>
            <a:endParaRPr lang="en-US" sz="1500" dirty="0"/>
          </a:p>
        </p:txBody>
      </p:sp>
      <p:sp>
        <p:nvSpPr>
          <p:cNvPr id="16" name="Text 14"/>
          <p:cNvSpPr/>
          <p:nvPr/>
        </p:nvSpPr>
        <p:spPr>
          <a:xfrm>
            <a:off x="12382500" y="3054350"/>
            <a:ext cx="4944618"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Self-contained, no cloud needed</a:t>
            </a:r>
            <a:endParaRPr lang="en-US" sz="2250" dirty="0"/>
          </a:p>
        </p:txBody>
      </p:sp>
      <p:sp>
        <p:nvSpPr>
          <p:cNvPr id="17" name="Text 15"/>
          <p:cNvSpPr/>
          <p:nvPr/>
        </p:nvSpPr>
        <p:spPr>
          <a:xfrm>
            <a:off x="12382500" y="3486150"/>
            <a:ext cx="4944618" cy="990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Brain, data and memory are all local, so it runs in a community centre or a kiosk with no connection.</a:t>
            </a:r>
            <a:endParaRPr lang="en-US" sz="1800" dirty="0"/>
          </a:p>
        </p:txBody>
      </p:sp>
      <p:sp>
        <p:nvSpPr>
          <p:cNvPr id="18" name="Shape 16"/>
          <p:cNvSpPr/>
          <p:nvPr/>
        </p:nvSpPr>
        <p:spPr>
          <a:xfrm>
            <a:off x="800100" y="5029200"/>
            <a:ext cx="15095934" cy="1244600"/>
          </a:xfrm>
          <a:prstGeom prst="roundRect">
            <a:avLst>
              <a:gd name="adj" fmla="val 13776"/>
            </a:avLst>
          </a:prstGeom>
          <a:solidFill>
            <a:srgbClr val="D2F0E6"/>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9" name="Text 17"/>
          <p:cNvSpPr/>
          <p:nvPr/>
        </p:nvSpPr>
        <p:spPr>
          <a:xfrm>
            <a:off x="1104900" y="5295900"/>
            <a:ext cx="14920924" cy="749300"/>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4171C"/>
                </a:solidFill>
                <a:latin typeface="Arial" pitchFamily="34" charset="0"/>
                <a:ea typeface="Arial" pitchFamily="34" charset="-122"/>
                <a:cs typeface="Arial" pitchFamily="34" charset="-120"/>
              </a:rPr>
              <a:t>The trust angle: for vulnerable users, "your data never leaves this box" is not a feature. It's the precondition for asking the question at all.</a:t>
            </a:r>
            <a:endParaRPr lang="en-US" sz="2025" dirty="0"/>
          </a:p>
        </p:txBody>
      </p:sp>
      <p:sp>
        <p:nvSpPr>
          <p:cNvPr id="20" name="Text 18"/>
          <p:cNvSpPr/>
          <p:nvPr/>
        </p:nvSpPr>
        <p:spPr>
          <a:xfrm>
            <a:off x="16162734" y="5461000"/>
            <a:ext cx="1401366"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b="1" dirty="0">
                <a:solidFill>
                  <a:srgbClr val="6B6E76"/>
                </a:solidFill>
                <a:latin typeface="Arial" pitchFamily="34" charset="0"/>
                <a:ea typeface="Arial" pitchFamily="34" charset="-122"/>
                <a:cs typeface="Arial" pitchFamily="34" charset="-120"/>
              </a:rPr>
              <a:t>trust first</a:t>
            </a:r>
            <a:endParaRPr lang="en-US" sz="3000" dirty="0"/>
          </a:p>
        </p:txBody>
      </p:sp>
      <p:sp>
        <p:nvSpPr>
          <p:cNvPr id="21" name="Text 19"/>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22" name="Text 20"/>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05 / 12</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06</a:t>
            </a:r>
            <a:endParaRPr lang="en-US" sz="2100" dirty="0"/>
          </a:p>
        </p:txBody>
      </p:sp>
      <p:sp>
        <p:nvSpPr>
          <p:cNvPr id="4" name="Text 2"/>
          <p:cNvSpPr/>
          <p:nvPr/>
        </p:nvSpPr>
        <p:spPr>
          <a:xfrm>
            <a:off x="1752600" y="784225"/>
            <a:ext cx="2215952"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how it fits together</a:t>
            </a:r>
            <a:endParaRPr lang="en-US" sz="2550" dirty="0"/>
          </a:p>
        </p:txBody>
      </p:sp>
      <p:sp>
        <p:nvSpPr>
          <p:cNvPr id="5" name="Text 3"/>
          <p:cNvSpPr/>
          <p:nvPr/>
        </p:nvSpPr>
        <p:spPr>
          <a:xfrm>
            <a:off x="800100" y="1447800"/>
            <a:ext cx="16089630" cy="533400"/>
          </a:xfrm>
          <a:prstGeom prst="rect">
            <a:avLst/>
          </a:prstGeom>
          <a:noFill/>
          <a:ln/>
        </p:spPr>
        <p:txBody>
          <a:bodyPr wrap="square" lIns="25400" tIns="25400" rIns="25400" bIns="25400" rtlCol="0" anchor="t">
            <a:normAutofit/>
          </a:bodyPr>
          <a:lstStyle/>
          <a:p>
            <a:pPr algn="l" indent="0" marL="0">
              <a:lnSpc>
                <a:spcPct val="106000"/>
              </a:lnSpc>
              <a:buNone/>
            </a:pPr>
            <a:r>
              <a:rPr lang="en-US" sz="3750" b="1" spc="-82" kern="0" dirty="0">
                <a:solidFill>
                  <a:srgbClr val="14171C"/>
                </a:solidFill>
                <a:latin typeface="Arial" pitchFamily="34" charset="0"/>
                <a:ea typeface="Arial" pitchFamily="34" charset="-122"/>
                <a:cs typeface="Arial" pitchFamily="34" charset="-120"/>
              </a:rPr>
              <a:t>One device, one flow: voice in, grounded answer out</a:t>
            </a:r>
            <a:endParaRPr lang="en-US" sz="3750" dirty="0"/>
          </a:p>
        </p:txBody>
      </p:sp>
      <p:sp>
        <p:nvSpPr>
          <p:cNvPr id="6" name="Shape 4"/>
          <p:cNvSpPr/>
          <p:nvPr/>
        </p:nvSpPr>
        <p:spPr>
          <a:xfrm>
            <a:off x="800100" y="2101850"/>
            <a:ext cx="152400" cy="152400"/>
          </a:xfrm>
          <a:prstGeom prst="roundRect">
            <a:avLst>
              <a:gd name="adj" fmla="val 25000"/>
            </a:avLst>
          </a:prstGeom>
          <a:solidFill>
            <a:srgbClr val="D5E6FA"/>
          </a:solidFill>
          <a:ln w="19050">
            <a:solidFill>
              <a:srgbClr val="14171C"/>
            </a:solidFill>
            <a:prstDash val="solid"/>
          </a:ln>
        </p:spPr>
      </p:sp>
      <p:sp>
        <p:nvSpPr>
          <p:cNvPr id="7" name="Text 5"/>
          <p:cNvSpPr/>
          <p:nvPr/>
        </p:nvSpPr>
        <p:spPr>
          <a:xfrm>
            <a:off x="1028700" y="2076450"/>
            <a:ext cx="1447800" cy="228600"/>
          </a:xfrm>
          <a:prstGeom prst="rect">
            <a:avLst/>
          </a:prstGeom>
          <a:noFill/>
          <a:ln/>
        </p:spPr>
        <p:txBody>
          <a:bodyPr wrap="square" lIns="0" tIns="0" rIns="0" bIns="0" rtlCol="0" anchor="t">
            <a:normAutofit/>
          </a:bodyPr>
          <a:lstStyle/>
          <a:p>
            <a:pPr algn="l" indent="0" marL="0">
              <a:lnSpc>
                <a:spcPct val="140000"/>
              </a:lnSpc>
              <a:buNone/>
            </a:pPr>
            <a:r>
              <a:rPr lang="en-US" sz="1200" dirty="0">
                <a:solidFill>
                  <a:srgbClr val="14171C"/>
                </a:solidFill>
                <a:latin typeface="Courier New" pitchFamily="34" charset="0"/>
                <a:ea typeface="Courier New" pitchFamily="34" charset="-122"/>
                <a:cs typeface="Courier New" pitchFamily="34" charset="-120"/>
              </a:rPr>
              <a:t>Reuse: OpenClaw</a:t>
            </a:r>
            <a:endParaRPr lang="en-US" sz="1200" dirty="0"/>
          </a:p>
        </p:txBody>
      </p:sp>
      <p:sp>
        <p:nvSpPr>
          <p:cNvPr id="8" name="Shape 6"/>
          <p:cNvSpPr/>
          <p:nvPr/>
        </p:nvSpPr>
        <p:spPr>
          <a:xfrm>
            <a:off x="2628900" y="2101850"/>
            <a:ext cx="152400" cy="152400"/>
          </a:xfrm>
          <a:prstGeom prst="roundRect">
            <a:avLst>
              <a:gd name="adj" fmla="val 25000"/>
            </a:avLst>
          </a:prstGeom>
          <a:solidFill>
            <a:srgbClr val="D2F0E6"/>
          </a:solidFill>
          <a:ln w="19050">
            <a:solidFill>
              <a:srgbClr val="14171C"/>
            </a:solidFill>
            <a:prstDash val="solid"/>
          </a:ln>
        </p:spPr>
      </p:sp>
      <p:sp>
        <p:nvSpPr>
          <p:cNvPr id="9" name="Text 7"/>
          <p:cNvSpPr/>
          <p:nvPr/>
        </p:nvSpPr>
        <p:spPr>
          <a:xfrm>
            <a:off x="2857500" y="2076450"/>
            <a:ext cx="1539240" cy="228600"/>
          </a:xfrm>
          <a:prstGeom prst="rect">
            <a:avLst/>
          </a:prstGeom>
          <a:noFill/>
          <a:ln/>
        </p:spPr>
        <p:txBody>
          <a:bodyPr wrap="square" lIns="0" tIns="0" rIns="0" bIns="0" rtlCol="0" anchor="t">
            <a:normAutofit/>
          </a:bodyPr>
          <a:lstStyle/>
          <a:p>
            <a:pPr algn="l" indent="0" marL="0">
              <a:lnSpc>
                <a:spcPct val="140000"/>
              </a:lnSpc>
              <a:buNone/>
            </a:pPr>
            <a:r>
              <a:rPr lang="en-US" sz="1200" dirty="0">
                <a:solidFill>
                  <a:srgbClr val="14171C"/>
                </a:solidFill>
                <a:latin typeface="Courier New" pitchFamily="34" charset="0"/>
                <a:ea typeface="Courier New" pitchFamily="34" charset="-122"/>
                <a:cs typeface="Courier New" pitchFamily="34" charset="-120"/>
              </a:rPr>
              <a:t>Nemotron: NVIDIA</a:t>
            </a:r>
            <a:endParaRPr lang="en-US" sz="1200" dirty="0"/>
          </a:p>
        </p:txBody>
      </p:sp>
      <p:sp>
        <p:nvSpPr>
          <p:cNvPr id="10" name="Shape 8"/>
          <p:cNvSpPr/>
          <p:nvPr/>
        </p:nvSpPr>
        <p:spPr>
          <a:xfrm>
            <a:off x="4549180" y="2101850"/>
            <a:ext cx="152400" cy="152400"/>
          </a:xfrm>
          <a:prstGeom prst="roundRect">
            <a:avLst>
              <a:gd name="adj" fmla="val 25000"/>
            </a:avLst>
          </a:prstGeom>
          <a:solidFill>
            <a:srgbClr val="E6DFFD"/>
          </a:solidFill>
          <a:ln w="19050">
            <a:solidFill>
              <a:srgbClr val="14171C"/>
            </a:solidFill>
            <a:prstDash val="solid"/>
          </a:ln>
        </p:spPr>
      </p:sp>
      <p:sp>
        <p:nvSpPr>
          <p:cNvPr id="11" name="Text 9"/>
          <p:cNvSpPr/>
          <p:nvPr/>
        </p:nvSpPr>
        <p:spPr>
          <a:xfrm>
            <a:off x="4777780" y="2076450"/>
            <a:ext cx="2453639" cy="228600"/>
          </a:xfrm>
          <a:prstGeom prst="rect">
            <a:avLst/>
          </a:prstGeom>
          <a:noFill/>
          <a:ln/>
        </p:spPr>
        <p:txBody>
          <a:bodyPr wrap="square" lIns="0" tIns="0" rIns="0" bIns="0" rtlCol="0" anchor="t">
            <a:normAutofit/>
          </a:bodyPr>
          <a:lstStyle/>
          <a:p>
            <a:pPr algn="l" indent="0" marL="0">
              <a:lnSpc>
                <a:spcPct val="140000"/>
              </a:lnSpc>
              <a:buNone/>
            </a:pPr>
            <a:r>
              <a:rPr lang="en-US" sz="1200" dirty="0">
                <a:solidFill>
                  <a:srgbClr val="14171C"/>
                </a:solidFill>
                <a:latin typeface="Courier New" pitchFamily="34" charset="0"/>
                <a:ea typeface="Courier New" pitchFamily="34" charset="-122"/>
                <a:cs typeface="Courier New" pitchFamily="34" charset="-120"/>
              </a:rPr>
              <a:t>We write: civic-geo + data</a:t>
            </a:r>
            <a:endParaRPr lang="en-US" sz="1200" dirty="0"/>
          </a:p>
        </p:txBody>
      </p:sp>
      <p:sp>
        <p:nvSpPr>
          <p:cNvPr id="12" name="Shape 10"/>
          <p:cNvSpPr/>
          <p:nvPr/>
        </p:nvSpPr>
        <p:spPr>
          <a:xfrm>
            <a:off x="7383860" y="2101850"/>
            <a:ext cx="152400" cy="152400"/>
          </a:xfrm>
          <a:prstGeom prst="roundRect">
            <a:avLst>
              <a:gd name="adj" fmla="val 25000"/>
            </a:avLst>
          </a:prstGeom>
          <a:solidFill>
            <a:srgbClr val="FFD3A8"/>
          </a:solidFill>
          <a:ln w="19050">
            <a:solidFill>
              <a:srgbClr val="14171C"/>
            </a:solidFill>
            <a:prstDash val="solid"/>
          </a:ln>
        </p:spPr>
      </p:sp>
      <p:sp>
        <p:nvSpPr>
          <p:cNvPr id="13" name="Text 11"/>
          <p:cNvSpPr/>
          <p:nvPr/>
        </p:nvSpPr>
        <p:spPr>
          <a:xfrm>
            <a:off x="7612460" y="2076450"/>
            <a:ext cx="2179320" cy="228600"/>
          </a:xfrm>
          <a:prstGeom prst="rect">
            <a:avLst/>
          </a:prstGeom>
          <a:noFill/>
          <a:ln/>
        </p:spPr>
        <p:txBody>
          <a:bodyPr wrap="square" lIns="0" tIns="0" rIns="0" bIns="0" rtlCol="0" anchor="t">
            <a:normAutofit/>
          </a:bodyPr>
          <a:lstStyle/>
          <a:p>
            <a:pPr algn="l" indent="0" marL="0">
              <a:lnSpc>
                <a:spcPct val="140000"/>
              </a:lnSpc>
              <a:buNone/>
            </a:pPr>
            <a:r>
              <a:rPr lang="en-US" sz="1200" dirty="0">
                <a:solidFill>
                  <a:srgbClr val="14171C"/>
                </a:solidFill>
                <a:latin typeface="Courier New" pitchFamily="34" charset="0"/>
                <a:ea typeface="Courier New" pitchFamily="34" charset="-122"/>
                <a:cs typeface="Courier New" pitchFamily="34" charset="-120"/>
              </a:rPr>
              <a:t>ElevenLabs: cloud voice</a:t>
            </a:r>
            <a:endParaRPr lang="en-US" sz="1200" dirty="0"/>
          </a:p>
        </p:txBody>
      </p:sp>
      <p:sp>
        <p:nvSpPr>
          <p:cNvPr id="14" name="Shape 12"/>
          <p:cNvSpPr/>
          <p:nvPr/>
        </p:nvSpPr>
        <p:spPr>
          <a:xfrm>
            <a:off x="9944299" y="2101850"/>
            <a:ext cx="152400" cy="152400"/>
          </a:xfrm>
          <a:prstGeom prst="roundRect">
            <a:avLst>
              <a:gd name="adj" fmla="val 25000"/>
            </a:avLst>
          </a:prstGeom>
          <a:solidFill>
            <a:srgbClr val="FFFFFF"/>
          </a:solidFill>
          <a:ln w="19050">
            <a:solidFill>
              <a:srgbClr val="3F7D5E"/>
            </a:solidFill>
            <a:prstDash val="dash"/>
          </a:ln>
        </p:spPr>
      </p:sp>
      <p:sp>
        <p:nvSpPr>
          <p:cNvPr id="15" name="Text 13"/>
          <p:cNvSpPr/>
          <p:nvPr/>
        </p:nvSpPr>
        <p:spPr>
          <a:xfrm>
            <a:off x="10172899" y="2076450"/>
            <a:ext cx="1722120" cy="228600"/>
          </a:xfrm>
          <a:prstGeom prst="rect">
            <a:avLst/>
          </a:prstGeom>
          <a:noFill/>
          <a:ln/>
        </p:spPr>
        <p:txBody>
          <a:bodyPr wrap="square" lIns="0" tIns="0" rIns="0" bIns="0" rtlCol="0" anchor="t">
            <a:normAutofit/>
          </a:bodyPr>
          <a:lstStyle/>
          <a:p>
            <a:pPr algn="l" indent="0" marL="0">
              <a:lnSpc>
                <a:spcPct val="140000"/>
              </a:lnSpc>
              <a:buNone/>
            </a:pPr>
            <a:r>
              <a:rPr lang="en-US" sz="1200" dirty="0">
                <a:solidFill>
                  <a:srgbClr val="14171C"/>
                </a:solidFill>
                <a:latin typeface="Courier New" pitchFamily="34" charset="0"/>
                <a:ea typeface="Courier New" pitchFamily="34" charset="-122"/>
                <a:cs typeface="Courier New" pitchFamily="34" charset="-120"/>
              </a:rPr>
              <a:t>On-device boundary</a:t>
            </a:r>
            <a:endParaRPr lang="en-US" sz="1200" dirty="0"/>
          </a:p>
        </p:txBody>
      </p:sp>
      <p:pic>
        <p:nvPicPr>
          <p:cNvPr id="16" name="Image 0" descr="preencoded.png">    </p:cNvPr>
          <p:cNvPicPr>
            <a:picLocks noChangeAspect="1"/>
          </p:cNvPicPr>
          <p:nvPr/>
        </p:nvPicPr>
        <p:blipFill>
          <a:blip r:embed="rId1"/>
          <a:stretch>
            <a:fillRect/>
          </a:stretch>
        </p:blipFill>
        <p:spPr>
          <a:xfrm>
            <a:off x="3476625" y="2355850"/>
            <a:ext cx="11334750" cy="4704953"/>
          </a:xfrm>
          <a:prstGeom prst="rect">
            <a:avLst/>
          </a:prstGeom>
        </p:spPr>
      </p:pic>
      <p:sp>
        <p:nvSpPr>
          <p:cNvPr id="17" name="Text 14"/>
          <p:cNvSpPr/>
          <p:nvPr/>
        </p:nvSpPr>
        <p:spPr>
          <a:xfrm>
            <a:off x="800100" y="7175103"/>
            <a:ext cx="17188434" cy="254000"/>
          </a:xfrm>
          <a:prstGeom prst="rect">
            <a:avLst/>
          </a:prstGeom>
          <a:noFill/>
          <a:ln/>
        </p:spPr>
        <p:txBody>
          <a:bodyPr wrap="square" lIns="25400" tIns="25400" rIns="25400" bIns="25400" rtlCol="0" anchor="t">
            <a:normAutofit/>
          </a:bodyPr>
          <a:lstStyle/>
          <a:p>
            <a:pPr algn="l" indent="0" marL="0">
              <a:lnSpc>
                <a:spcPct val="150000"/>
              </a:lnSpc>
              <a:buNone/>
            </a:pPr>
            <a:r>
              <a:rPr lang="en-US" sz="1125" b="1" dirty="0">
                <a:solidFill>
                  <a:srgbClr val="2A2F37"/>
                </a:solidFill>
                <a:latin typeface="Arial" pitchFamily="34" charset="0"/>
                <a:ea typeface="Arial" pitchFamily="34" charset="-122"/>
                <a:cs typeface="Arial" pitchFamily="34" charset="-120"/>
              </a:rPr>
              <a:t>1 </a:t>
            </a:r>
            <a:pPr algn="l" indent="0" marL="0">
              <a:lnSpc>
                <a:spcPct val="150000"/>
              </a:lnSpc>
              <a:buNone/>
            </a:pPr>
            <a:r>
              <a:rPr lang="en-US" sz="1125" dirty="0">
                <a:solidFill>
                  <a:srgbClr val="2A2F37"/>
                </a:solidFill>
                <a:latin typeface="Courier New" pitchFamily="34" charset="0"/>
                <a:ea typeface="Courier New" pitchFamily="34" charset="-122"/>
                <a:cs typeface="Courier New" pitchFamily="34" charset="-120"/>
              </a:rPr>
              <a:t>speak </a:t>
            </a:r>
            <a:pPr algn="l" indent="0" marL="0">
              <a:lnSpc>
                <a:spcPct val="150000"/>
              </a:lnSpc>
              <a:buNone/>
            </a:pPr>
            <a:r>
              <a:rPr lang="en-US" sz="1125" b="1" dirty="0">
                <a:solidFill>
                  <a:srgbClr val="2A2F37"/>
                </a:solidFill>
                <a:latin typeface="Arial" pitchFamily="34" charset="0"/>
                <a:ea typeface="Arial" pitchFamily="34" charset="-122"/>
                <a:cs typeface="Arial" pitchFamily="34" charset="-120"/>
              </a:rPr>
              <a:t>2 </a:t>
            </a:r>
            <a:pPr algn="l" indent="0" marL="0">
              <a:lnSpc>
                <a:spcPct val="150000"/>
              </a:lnSpc>
              <a:buNone/>
            </a:pPr>
            <a:r>
              <a:rPr lang="en-US" sz="1125" dirty="0">
                <a:solidFill>
                  <a:srgbClr val="2A2F37"/>
                </a:solidFill>
                <a:latin typeface="Courier New" pitchFamily="34" charset="0"/>
                <a:ea typeface="Courier New" pitchFamily="34" charset="-122"/>
                <a:cs typeface="Courier New" pitchFamily="34" charset="-120"/>
              </a:rPr>
              <a:t>OpenClaw </a:t>
            </a:r>
            <a:pPr algn="l" indent="0" marL="0">
              <a:lnSpc>
                <a:spcPct val="150000"/>
              </a:lnSpc>
              <a:buNone/>
            </a:pPr>
            <a:r>
              <a:rPr lang="en-US" sz="1125" b="1" dirty="0">
                <a:solidFill>
                  <a:srgbClr val="2A2F37"/>
                </a:solidFill>
                <a:latin typeface="Arial" pitchFamily="34" charset="0"/>
                <a:ea typeface="Arial" pitchFamily="34" charset="-122"/>
                <a:cs typeface="Arial" pitchFamily="34" charset="-120"/>
              </a:rPr>
              <a:t>3 </a:t>
            </a:r>
            <a:pPr algn="l" indent="0" marL="0">
              <a:lnSpc>
                <a:spcPct val="150000"/>
              </a:lnSpc>
              <a:buNone/>
            </a:pPr>
            <a:r>
              <a:rPr lang="en-US" sz="1125" dirty="0">
                <a:solidFill>
                  <a:srgbClr val="2A2F37"/>
                </a:solidFill>
                <a:latin typeface="Courier New" pitchFamily="34" charset="0"/>
                <a:ea typeface="Courier New" pitchFamily="34" charset="-122"/>
                <a:cs typeface="Courier New" pitchFamily="34" charset="-120"/>
              </a:rPr>
              <a:t>Nemotron reasons </a:t>
            </a:r>
            <a:pPr algn="l" indent="0" marL="0">
              <a:lnSpc>
                <a:spcPct val="150000"/>
              </a:lnSpc>
              <a:buNone/>
            </a:pPr>
            <a:r>
              <a:rPr lang="en-US" sz="1125" b="1" dirty="0">
                <a:solidFill>
                  <a:srgbClr val="2A2F37"/>
                </a:solidFill>
                <a:latin typeface="Arial" pitchFamily="34" charset="0"/>
                <a:ea typeface="Arial" pitchFamily="34" charset="-122"/>
                <a:cs typeface="Arial" pitchFamily="34" charset="-120"/>
              </a:rPr>
              <a:t>4 </a:t>
            </a:r>
            <a:pPr algn="l" indent="0" marL="0">
              <a:lnSpc>
                <a:spcPct val="150000"/>
              </a:lnSpc>
              <a:buNone/>
            </a:pPr>
            <a:r>
              <a:rPr lang="en-US" sz="1125" dirty="0">
                <a:solidFill>
                  <a:srgbClr val="2A2F37"/>
                </a:solidFill>
                <a:latin typeface="Courier New" pitchFamily="34" charset="0"/>
                <a:ea typeface="Courier New" pitchFamily="34" charset="-122"/>
                <a:cs typeface="Courier New" pitchFamily="34" charset="-120"/>
              </a:rPr>
              <a:t>civic-geo call </a:t>
            </a:r>
            <a:pPr algn="l" indent="0" marL="0">
              <a:lnSpc>
                <a:spcPct val="150000"/>
              </a:lnSpc>
              <a:buNone/>
            </a:pPr>
            <a:r>
              <a:rPr lang="en-US" sz="1125" b="1" dirty="0">
                <a:solidFill>
                  <a:srgbClr val="2A2F37"/>
                </a:solidFill>
                <a:latin typeface="Arial" pitchFamily="34" charset="0"/>
                <a:ea typeface="Arial" pitchFamily="34" charset="-122"/>
                <a:cs typeface="Arial" pitchFamily="34" charset="-120"/>
              </a:rPr>
              <a:t>5 </a:t>
            </a:r>
            <a:pPr algn="l" indent="0" marL="0">
              <a:lnSpc>
                <a:spcPct val="150000"/>
              </a:lnSpc>
              <a:buNone/>
            </a:pPr>
            <a:r>
              <a:rPr lang="en-US" sz="1125" dirty="0">
                <a:solidFill>
                  <a:srgbClr val="2A2F37"/>
                </a:solidFill>
                <a:latin typeface="Courier New" pitchFamily="34" charset="0"/>
                <a:ea typeface="Courier New" pitchFamily="34" charset="-122"/>
                <a:cs typeface="Courier New" pitchFamily="34" charset="-120"/>
              </a:rPr>
              <a:t>GeoJSON lookup </a:t>
            </a:r>
            <a:pPr algn="l" indent="0" marL="0">
              <a:lnSpc>
                <a:spcPct val="150000"/>
              </a:lnSpc>
              <a:buNone/>
            </a:pPr>
            <a:r>
              <a:rPr lang="en-US" sz="1125" b="1" dirty="0">
                <a:solidFill>
                  <a:srgbClr val="2A2F37"/>
                </a:solidFill>
                <a:latin typeface="Arial" pitchFamily="34" charset="0"/>
                <a:ea typeface="Arial" pitchFamily="34" charset="-122"/>
                <a:cs typeface="Arial" pitchFamily="34" charset="-120"/>
              </a:rPr>
              <a:t>6 </a:t>
            </a:r>
            <a:pPr algn="l" indent="0" marL="0">
              <a:lnSpc>
                <a:spcPct val="150000"/>
              </a:lnSpc>
              <a:buNone/>
            </a:pPr>
            <a:r>
              <a:rPr lang="en-US" sz="1125" dirty="0">
                <a:solidFill>
                  <a:srgbClr val="2A2F37"/>
                </a:solidFill>
                <a:latin typeface="Courier New" pitchFamily="34" charset="0"/>
                <a:ea typeface="Courier New" pitchFamily="34" charset="-122"/>
                <a:cs typeface="Courier New" pitchFamily="34" charset="-120"/>
              </a:rPr>
              <a:t>answer back to Eleven v3 </a:t>
            </a:r>
            <a:pPr algn="l" indent="0" marL="0">
              <a:lnSpc>
                <a:spcPct val="150000"/>
              </a:lnSpc>
              <a:buNone/>
            </a:pPr>
            <a:r>
              <a:rPr lang="en-US" sz="1125" b="1" dirty="0">
                <a:solidFill>
                  <a:srgbClr val="2A2F37"/>
                </a:solidFill>
                <a:latin typeface="Arial" pitchFamily="34" charset="0"/>
                <a:ea typeface="Arial" pitchFamily="34" charset="-122"/>
                <a:cs typeface="Arial" pitchFamily="34" charset="-120"/>
              </a:rPr>
              <a:t>7 </a:t>
            </a:r>
            <a:pPr algn="l" indent="0" marL="0">
              <a:lnSpc>
                <a:spcPct val="150000"/>
              </a:lnSpc>
              <a:buNone/>
            </a:pPr>
            <a:r>
              <a:rPr lang="en-US" sz="1125" dirty="0">
                <a:solidFill>
                  <a:srgbClr val="2A2F37"/>
                </a:solidFill>
                <a:latin typeface="Courier New" pitchFamily="34" charset="0"/>
                <a:ea typeface="Courier New" pitchFamily="34" charset="-122"/>
                <a:cs typeface="Courier New" pitchFamily="34" charset="-120"/>
              </a:rPr>
              <a:t>spoken back. Only the voice in/out leaves the device.</a:t>
            </a:r>
            <a:endParaRPr lang="en-US" sz="1125" dirty="0"/>
          </a:p>
        </p:txBody>
      </p:sp>
      <p:sp>
        <p:nvSpPr>
          <p:cNvPr id="18" name="Text 15"/>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06 / 12</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07</a:t>
            </a:r>
            <a:endParaRPr lang="en-US" sz="2100" dirty="0"/>
          </a:p>
        </p:txBody>
      </p:sp>
      <p:sp>
        <p:nvSpPr>
          <p:cNvPr id="4" name="Text 2"/>
          <p:cNvSpPr/>
          <p:nvPr/>
        </p:nvSpPr>
        <p:spPr>
          <a:xfrm>
            <a:off x="1752600" y="784225"/>
            <a:ext cx="2137569"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honest engineering</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We reused a platform and built </a:t>
            </a:r>
            <a:pPr algn="l" indent="0" marL="0">
              <a:lnSpc>
                <a:spcPct val="106000"/>
              </a:lnSpc>
              <a:buNone/>
            </a:pPr>
            <a:r>
              <a:rPr lang="en-US" sz="4500" b="1" spc="-99" kern="0" dirty="0">
                <a:solidFill>
                  <a:srgbClr val="14171C"/>
                </a:solidFill>
                <a:highlight>
                  <a:srgbClr val="FDDE7A"/>
                </a:highlight>
                <a:latin typeface="Arial" pitchFamily="34" charset="0"/>
                <a:ea typeface="Arial" pitchFamily="34" charset="-122"/>
                <a:cs typeface="Arial" pitchFamily="34" charset="-120"/>
              </a:rPr>
              <a:t>one sharp thing</a:t>
            </a:r>
            <a:endParaRPr lang="en-US" sz="4500" dirty="0"/>
          </a:p>
        </p:txBody>
      </p:sp>
      <p:sp>
        <p:nvSpPr>
          <p:cNvPr id="6" name="Shape 4"/>
          <p:cNvSpPr/>
          <p:nvPr/>
        </p:nvSpPr>
        <p:spPr>
          <a:xfrm>
            <a:off x="800100" y="2425700"/>
            <a:ext cx="8201025" cy="3473450"/>
          </a:xfrm>
          <a:prstGeom prst="roundRect">
            <a:avLst>
              <a:gd name="adj" fmla="val 4936"/>
            </a:avLst>
          </a:prstGeom>
          <a:solidFill>
            <a:srgbClr val="D5E6FA"/>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7" name="Shape 5"/>
          <p:cNvSpPr/>
          <p:nvPr/>
        </p:nvSpPr>
        <p:spPr>
          <a:xfrm>
            <a:off x="1104900" y="2692400"/>
            <a:ext cx="1307703" cy="514350"/>
          </a:xfrm>
          <a:prstGeom prst="roundRect">
            <a:avLst>
              <a:gd name="adj" fmla="val 50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8" name="Shape 6"/>
          <p:cNvSpPr/>
          <p:nvPr/>
        </p:nvSpPr>
        <p:spPr>
          <a:xfrm>
            <a:off x="1314450" y="2873375"/>
            <a:ext cx="152400" cy="152400"/>
          </a:xfrm>
          <a:prstGeom prst="roundRect">
            <a:avLst>
              <a:gd name="adj" fmla="val 25000"/>
            </a:avLst>
          </a:prstGeom>
          <a:solidFill>
            <a:srgbClr val="D5E6FA"/>
          </a:solidFill>
          <a:ln w="19050">
            <a:solidFill>
              <a:srgbClr val="14171C"/>
            </a:solidFill>
            <a:prstDash val="solid"/>
          </a:ln>
        </p:spPr>
      </p:sp>
      <p:sp>
        <p:nvSpPr>
          <p:cNvPr id="9" name="Text 7"/>
          <p:cNvSpPr/>
          <p:nvPr/>
        </p:nvSpPr>
        <p:spPr>
          <a:xfrm>
            <a:off x="1571625" y="2809875"/>
            <a:ext cx="707574" cy="304800"/>
          </a:xfrm>
          <a:prstGeom prst="rect">
            <a:avLst/>
          </a:prstGeom>
          <a:noFill/>
          <a:ln/>
        </p:spPr>
        <p:txBody>
          <a:bodyPr wrap="square" lIns="0" tIns="0" rIns="0" bIns="0" rtlCol="0" anchor="t">
            <a:normAutofit/>
          </a:bodyPr>
          <a:lstStyle/>
          <a:p>
            <a:pPr algn="l" indent="0" marL="0">
              <a:lnSpc>
                <a:spcPct val="140000"/>
              </a:lnSpc>
              <a:buNone/>
            </a:pPr>
            <a:r>
              <a:rPr lang="en-US" sz="1725" b="1" dirty="0">
                <a:solidFill>
                  <a:srgbClr val="14171C"/>
                </a:solidFill>
                <a:latin typeface="Arial" pitchFamily="34" charset="0"/>
                <a:ea typeface="Arial" pitchFamily="34" charset="-122"/>
                <a:cs typeface="Arial" pitchFamily="34" charset="-120"/>
              </a:rPr>
              <a:t>Reuse</a:t>
            </a:r>
            <a:endParaRPr lang="en-US" sz="1725" dirty="0"/>
          </a:p>
        </p:txBody>
      </p:sp>
      <p:sp>
        <p:nvSpPr>
          <p:cNvPr id="10" name="Text 8"/>
          <p:cNvSpPr/>
          <p:nvPr/>
        </p:nvSpPr>
        <p:spPr>
          <a:xfrm>
            <a:off x="2545953" y="2816225"/>
            <a:ext cx="108227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OPENCLAW</a:t>
            </a:r>
            <a:endParaRPr lang="en-US" sz="1500" dirty="0"/>
          </a:p>
        </p:txBody>
      </p:sp>
      <p:sp>
        <p:nvSpPr>
          <p:cNvPr id="11" name="Text 9"/>
          <p:cNvSpPr/>
          <p:nvPr/>
        </p:nvSpPr>
        <p:spPr>
          <a:xfrm>
            <a:off x="1104900" y="3359150"/>
            <a:ext cx="7819168"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A proven agent platform, not reinvented</a:t>
            </a:r>
            <a:endParaRPr lang="en-US" sz="2250" dirty="0"/>
          </a:p>
        </p:txBody>
      </p:sp>
      <p:sp>
        <p:nvSpPr>
          <p:cNvPr id="12" name="Shape 10"/>
          <p:cNvSpPr/>
          <p:nvPr/>
        </p:nvSpPr>
        <p:spPr>
          <a:xfrm>
            <a:off x="1104900" y="3905250"/>
            <a:ext cx="133350" cy="133350"/>
          </a:xfrm>
          <a:prstGeom prst="roundRect">
            <a:avLst>
              <a:gd name="adj" fmla="val 28571"/>
            </a:avLst>
          </a:prstGeom>
          <a:ln w="19050">
            <a:solidFill>
              <a:srgbClr val="14171C"/>
            </a:solidFill>
            <a:prstDash val="solid"/>
          </a:ln>
        </p:spPr>
      </p:sp>
      <p:sp>
        <p:nvSpPr>
          <p:cNvPr id="13" name="Text 11"/>
          <p:cNvSpPr/>
          <p:nvPr/>
        </p:nvSpPr>
        <p:spPr>
          <a:xfrm>
            <a:off x="1390650" y="3848100"/>
            <a:ext cx="4619228" cy="342900"/>
          </a:xfrm>
          <a:prstGeom prst="rect">
            <a:avLst/>
          </a:prstGeom>
          <a:noFill/>
          <a:ln/>
        </p:spPr>
        <p:txBody>
          <a:bodyPr wrap="square" lIns="25400" tIns="25400" rIns="25400" bIns="25400" rtlCol="0" anchor="t">
            <a:normAutofit/>
          </a:bodyPr>
          <a:lstStyle/>
          <a:p>
            <a:pPr algn="l" indent="0" marL="0">
              <a:lnSpc>
                <a:spcPct val="136000"/>
              </a:lnSpc>
              <a:buNone/>
            </a:pPr>
            <a:r>
              <a:rPr lang="en-US" sz="1800" dirty="0">
                <a:solidFill>
                  <a:srgbClr val="14171C"/>
                </a:solidFill>
                <a:latin typeface="Arial" pitchFamily="34" charset="0"/>
                <a:ea typeface="Arial" pitchFamily="34" charset="-122"/>
                <a:cs typeface="Arial" pitchFamily="34" charset="-120"/>
              </a:rPr>
              <a:t>Gateway, sessions and persistent memory</a:t>
            </a:r>
            <a:endParaRPr lang="en-US" sz="1800" dirty="0"/>
          </a:p>
        </p:txBody>
      </p:sp>
      <p:sp>
        <p:nvSpPr>
          <p:cNvPr id="14" name="Shape 12"/>
          <p:cNvSpPr/>
          <p:nvPr/>
        </p:nvSpPr>
        <p:spPr>
          <a:xfrm>
            <a:off x="1104900" y="4343400"/>
            <a:ext cx="133350" cy="133350"/>
          </a:xfrm>
          <a:prstGeom prst="roundRect">
            <a:avLst>
              <a:gd name="adj" fmla="val 28571"/>
            </a:avLst>
          </a:prstGeom>
          <a:ln w="19050">
            <a:solidFill>
              <a:srgbClr val="14171C"/>
            </a:solidFill>
            <a:prstDash val="solid"/>
          </a:ln>
        </p:spPr>
      </p:sp>
      <p:sp>
        <p:nvSpPr>
          <p:cNvPr id="15" name="Text 13"/>
          <p:cNvSpPr/>
          <p:nvPr/>
        </p:nvSpPr>
        <p:spPr>
          <a:xfrm>
            <a:off x="1390650" y="4286250"/>
            <a:ext cx="4159349" cy="342900"/>
          </a:xfrm>
          <a:prstGeom prst="rect">
            <a:avLst/>
          </a:prstGeom>
          <a:noFill/>
          <a:ln/>
        </p:spPr>
        <p:txBody>
          <a:bodyPr wrap="square" lIns="25400" tIns="25400" rIns="25400" bIns="25400" rtlCol="0" anchor="t">
            <a:normAutofit/>
          </a:bodyPr>
          <a:lstStyle/>
          <a:p>
            <a:pPr algn="l" indent="0" marL="0">
              <a:lnSpc>
                <a:spcPct val="136000"/>
              </a:lnSpc>
              <a:buNone/>
            </a:pPr>
            <a:r>
              <a:rPr lang="en-US" sz="1800" dirty="0">
                <a:solidFill>
                  <a:srgbClr val="14171C"/>
                </a:solidFill>
                <a:latin typeface="Arial" pitchFamily="34" charset="0"/>
                <a:ea typeface="Arial" pitchFamily="34" charset="-122"/>
                <a:cs typeface="Arial" pitchFamily="34" charset="-120"/>
              </a:rPr>
              <a:t>Talk voice mode: turn-taking, barge-in</a:t>
            </a:r>
            <a:endParaRPr lang="en-US" sz="1800" dirty="0"/>
          </a:p>
        </p:txBody>
      </p:sp>
      <p:sp>
        <p:nvSpPr>
          <p:cNvPr id="16" name="Shape 14"/>
          <p:cNvSpPr/>
          <p:nvPr/>
        </p:nvSpPr>
        <p:spPr>
          <a:xfrm>
            <a:off x="1104900" y="4781550"/>
            <a:ext cx="133350" cy="133350"/>
          </a:xfrm>
          <a:prstGeom prst="roundRect">
            <a:avLst>
              <a:gd name="adj" fmla="val 28571"/>
            </a:avLst>
          </a:prstGeom>
          <a:ln w="19050">
            <a:solidFill>
              <a:srgbClr val="14171C"/>
            </a:solidFill>
            <a:prstDash val="solid"/>
          </a:ln>
        </p:spPr>
      </p:sp>
      <p:sp>
        <p:nvSpPr>
          <p:cNvPr id="17" name="Text 15"/>
          <p:cNvSpPr/>
          <p:nvPr/>
        </p:nvSpPr>
        <p:spPr>
          <a:xfrm>
            <a:off x="1390650" y="4724400"/>
            <a:ext cx="2875367" cy="342900"/>
          </a:xfrm>
          <a:prstGeom prst="rect">
            <a:avLst/>
          </a:prstGeom>
          <a:noFill/>
          <a:ln/>
        </p:spPr>
        <p:txBody>
          <a:bodyPr wrap="square" lIns="25400" tIns="25400" rIns="25400" bIns="25400" rtlCol="0" anchor="t">
            <a:normAutofit/>
          </a:bodyPr>
          <a:lstStyle/>
          <a:p>
            <a:pPr algn="l" indent="0" marL="0">
              <a:lnSpc>
                <a:spcPct val="136000"/>
              </a:lnSpc>
              <a:buNone/>
            </a:pPr>
            <a:r>
              <a:rPr lang="en-US" sz="1800" dirty="0">
                <a:solidFill>
                  <a:srgbClr val="14171C"/>
                </a:solidFill>
                <a:latin typeface="Arial" pitchFamily="34" charset="0"/>
                <a:ea typeface="Arial" pitchFamily="34" charset="-122"/>
                <a:cs typeface="Arial" pitchFamily="34" charset="-120"/>
              </a:rPr>
              <a:t>Plugin SDK for tool-calling</a:t>
            </a:r>
            <a:endParaRPr lang="en-US" sz="1800" dirty="0"/>
          </a:p>
        </p:txBody>
      </p:sp>
      <p:sp>
        <p:nvSpPr>
          <p:cNvPr id="18" name="Shape 16"/>
          <p:cNvSpPr/>
          <p:nvPr/>
        </p:nvSpPr>
        <p:spPr>
          <a:xfrm>
            <a:off x="9286875" y="2425700"/>
            <a:ext cx="8201025" cy="3473450"/>
          </a:xfrm>
          <a:prstGeom prst="roundRect">
            <a:avLst>
              <a:gd name="adj" fmla="val 4936"/>
            </a:avLst>
          </a:prstGeom>
          <a:solidFill>
            <a:srgbClr val="E6DFFD"/>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9" name="Shape 17"/>
          <p:cNvSpPr/>
          <p:nvPr/>
        </p:nvSpPr>
        <p:spPr>
          <a:xfrm>
            <a:off x="9591675" y="2692400"/>
            <a:ext cx="1626989" cy="514350"/>
          </a:xfrm>
          <a:prstGeom prst="roundRect">
            <a:avLst>
              <a:gd name="adj" fmla="val 50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20" name="Shape 18"/>
          <p:cNvSpPr/>
          <p:nvPr/>
        </p:nvSpPr>
        <p:spPr>
          <a:xfrm>
            <a:off x="9801225" y="2873375"/>
            <a:ext cx="152400" cy="152400"/>
          </a:xfrm>
          <a:prstGeom prst="roundRect">
            <a:avLst>
              <a:gd name="adj" fmla="val 25000"/>
            </a:avLst>
          </a:prstGeom>
          <a:solidFill>
            <a:srgbClr val="E6DFFD"/>
          </a:solidFill>
          <a:ln w="19050">
            <a:solidFill>
              <a:srgbClr val="14171C"/>
            </a:solidFill>
            <a:prstDash val="solid"/>
          </a:ln>
        </p:spPr>
      </p:sp>
      <p:sp>
        <p:nvSpPr>
          <p:cNvPr id="21" name="Text 19"/>
          <p:cNvSpPr/>
          <p:nvPr/>
        </p:nvSpPr>
        <p:spPr>
          <a:xfrm>
            <a:off x="10058400" y="2809875"/>
            <a:ext cx="1026767" cy="304800"/>
          </a:xfrm>
          <a:prstGeom prst="rect">
            <a:avLst/>
          </a:prstGeom>
          <a:noFill/>
          <a:ln/>
        </p:spPr>
        <p:txBody>
          <a:bodyPr wrap="square" lIns="0" tIns="0" rIns="0" bIns="0" rtlCol="0" anchor="t">
            <a:normAutofit/>
          </a:bodyPr>
          <a:lstStyle/>
          <a:p>
            <a:pPr algn="l" indent="0" marL="0">
              <a:lnSpc>
                <a:spcPct val="140000"/>
              </a:lnSpc>
              <a:buNone/>
            </a:pPr>
            <a:r>
              <a:rPr lang="en-US" sz="1725" b="1" dirty="0">
                <a:solidFill>
                  <a:srgbClr val="14171C"/>
                </a:solidFill>
                <a:latin typeface="Arial" pitchFamily="34" charset="0"/>
                <a:ea typeface="Arial" pitchFamily="34" charset="-122"/>
                <a:cs typeface="Arial" pitchFamily="34" charset="-120"/>
              </a:rPr>
              <a:t>We write</a:t>
            </a:r>
            <a:endParaRPr lang="en-US" sz="1725" dirty="0"/>
          </a:p>
        </p:txBody>
      </p:sp>
      <p:sp>
        <p:nvSpPr>
          <p:cNvPr id="22" name="Text 20"/>
          <p:cNvSpPr/>
          <p:nvPr/>
        </p:nvSpPr>
        <p:spPr>
          <a:xfrm>
            <a:off x="11352014" y="2816225"/>
            <a:ext cx="120808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CIVIC-GEO</a:t>
            </a:r>
            <a:endParaRPr lang="en-US" sz="1500" dirty="0"/>
          </a:p>
        </p:txBody>
      </p:sp>
      <p:sp>
        <p:nvSpPr>
          <p:cNvPr id="23" name="Text 21"/>
          <p:cNvSpPr/>
          <p:nvPr/>
        </p:nvSpPr>
        <p:spPr>
          <a:xfrm>
            <a:off x="9591675" y="3340100"/>
            <a:ext cx="7819168"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One OpenClaw plugin: pure-Node, zero deps</a:t>
            </a:r>
            <a:endParaRPr lang="en-US" sz="2250" dirty="0"/>
          </a:p>
        </p:txBody>
      </p:sp>
      <p:sp>
        <p:nvSpPr>
          <p:cNvPr id="24" name="Text 22"/>
          <p:cNvSpPr/>
          <p:nvPr/>
        </p:nvSpPr>
        <p:spPr>
          <a:xfrm>
            <a:off x="9591675" y="3790950"/>
            <a:ext cx="7819168" cy="1879600"/>
          </a:xfrm>
          <a:prstGeom prst="rect">
            <a:avLst/>
          </a:prstGeom>
          <a:noFill/>
          <a:ln/>
        </p:spPr>
        <p:txBody>
          <a:bodyPr wrap="square" lIns="25400" tIns="25400" rIns="25400" bIns="25400" rtlCol="0" anchor="t">
            <a:normAutofit/>
          </a:bodyPr>
          <a:lstStyle/>
          <a:p>
            <a:pPr algn="l" indent="0" marL="0">
              <a:lnSpc>
                <a:spcPct val="170000"/>
              </a:lnSpc>
              <a:buNone/>
            </a:pPr>
            <a:r>
              <a:rPr lang="en-US" sz="1725" b="1" spc="69" kern="0" dirty="0">
                <a:solidFill>
                  <a:srgbClr val="6B4FAE"/>
                </a:solidFill>
                <a:latin typeface="Courier New" pitchFamily="34" charset="0"/>
                <a:ea typeface="Courier New" pitchFamily="34" charset="-122"/>
                <a:cs typeface="Courier New" pitchFamily="34" charset="-120"/>
              </a:rPr>
              <a:t>geocode() find_nearest() get_details() safety_count() list_coverage()</a:t>
            </a:r>
            <a:endParaRPr lang="en-US" sz="1725" dirty="0"/>
          </a:p>
        </p:txBody>
      </p:sp>
      <p:sp>
        <p:nvSpPr>
          <p:cNvPr id="25" name="Shape 23"/>
          <p:cNvSpPr/>
          <p:nvPr/>
        </p:nvSpPr>
        <p:spPr>
          <a:xfrm>
            <a:off x="800100" y="6184900"/>
            <a:ext cx="14810979" cy="1244600"/>
          </a:xfrm>
          <a:prstGeom prst="roundRect">
            <a:avLst>
              <a:gd name="adj" fmla="val 13776"/>
            </a:avLst>
          </a:prstGeom>
          <a:solidFill>
            <a:srgbClr val="FDE9A8"/>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26" name="Text 24"/>
          <p:cNvSpPr/>
          <p:nvPr/>
        </p:nvSpPr>
        <p:spPr>
          <a:xfrm>
            <a:off x="1104900" y="6451600"/>
            <a:ext cx="14627420" cy="749300"/>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14171C"/>
                </a:solidFill>
                <a:latin typeface="Arial" pitchFamily="34" charset="0"/>
                <a:ea typeface="Arial" pitchFamily="34" charset="-122"/>
                <a:cs typeface="Arial" pitchFamily="34" charset="-120"/>
              </a:rPr>
              <a:t>Smart scoping = a de-risked one-day build. We put our hours where the original value is, grounding the agent in real civic data, and stood on a platform for everything else.</a:t>
            </a:r>
            <a:endParaRPr lang="en-US" sz="2025" dirty="0"/>
          </a:p>
        </p:txBody>
      </p:sp>
      <p:sp>
        <p:nvSpPr>
          <p:cNvPr id="27" name="Text 25"/>
          <p:cNvSpPr/>
          <p:nvPr/>
        </p:nvSpPr>
        <p:spPr>
          <a:xfrm>
            <a:off x="15858729" y="6629400"/>
            <a:ext cx="1705372" cy="393700"/>
          </a:xfrm>
          <a:prstGeom prst="rect">
            <a:avLst/>
          </a:prstGeom>
          <a:noFill/>
          <a:ln/>
        </p:spPr>
        <p:txBody>
          <a:bodyPr wrap="square" lIns="25400" tIns="25400" rIns="25400" bIns="25400" rtlCol="0" anchor="t">
            <a:normAutofit/>
          </a:bodyPr>
          <a:lstStyle/>
          <a:p>
            <a:pPr algn="l" indent="0" marL="0">
              <a:lnSpc>
                <a:spcPct val="100000"/>
              </a:lnSpc>
              <a:buNone/>
            </a:pPr>
            <a:r>
              <a:rPr lang="en-US" sz="2850" b="1" dirty="0">
                <a:solidFill>
                  <a:srgbClr val="6B6E76"/>
                </a:solidFill>
                <a:latin typeface="Arial" pitchFamily="34" charset="0"/>
                <a:ea typeface="Arial" pitchFamily="34" charset="-122"/>
                <a:cs typeface="Arial" pitchFamily="34" charset="-120"/>
              </a:rPr>
              <a:t>built in a day</a:t>
            </a:r>
            <a:endParaRPr lang="en-US" sz="2850" dirty="0"/>
          </a:p>
        </p:txBody>
      </p:sp>
      <p:sp>
        <p:nvSpPr>
          <p:cNvPr id="28" name="Text 26"/>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29" name="Text 27"/>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07 / 12</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08</a:t>
            </a:r>
            <a:endParaRPr lang="en-US" sz="2100" dirty="0"/>
          </a:p>
        </p:txBody>
      </p:sp>
      <p:sp>
        <p:nvSpPr>
          <p:cNvPr id="4" name="Text 2"/>
          <p:cNvSpPr/>
          <p:nvPr/>
        </p:nvSpPr>
        <p:spPr>
          <a:xfrm>
            <a:off x="1752600" y="784225"/>
            <a:ext cx="2641953"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real data, on the device</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Real London open data, </a:t>
            </a:r>
            <a:pPr algn="l" indent="0" marL="0">
              <a:lnSpc>
                <a:spcPct val="106000"/>
              </a:lnSpc>
              <a:buNone/>
            </a:pPr>
            <a:r>
              <a:rPr lang="en-US" sz="4500" b="1" spc="-99" kern="0" dirty="0">
                <a:solidFill>
                  <a:srgbClr val="14171C"/>
                </a:solidFill>
                <a:highlight>
                  <a:srgbClr val="FDDE7A"/>
                </a:highlight>
                <a:latin typeface="Arial" pitchFamily="34" charset="0"/>
                <a:ea typeface="Arial" pitchFamily="34" charset="-122"/>
                <a:cs typeface="Arial" pitchFamily="34" charset="-120"/>
              </a:rPr>
              <a:t>stored locally</a:t>
            </a:r>
            <a:endParaRPr lang="en-US" sz="4500" dirty="0"/>
          </a:p>
        </p:txBody>
      </p:sp>
      <p:sp>
        <p:nvSpPr>
          <p:cNvPr id="6" name="Shape 4"/>
          <p:cNvSpPr/>
          <p:nvPr/>
        </p:nvSpPr>
        <p:spPr>
          <a:xfrm>
            <a:off x="800100" y="2425700"/>
            <a:ext cx="9120982" cy="4984750"/>
          </a:xfrm>
          <a:prstGeom prst="roundRect">
            <a:avLst>
              <a:gd name="adj" fmla="val 3439"/>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7" name="Shape 5"/>
          <p:cNvSpPr/>
          <p:nvPr/>
        </p:nvSpPr>
        <p:spPr>
          <a:xfrm>
            <a:off x="1104900" y="3098800"/>
            <a:ext cx="4376142" cy="19050"/>
          </a:xfrm>
          <a:prstGeom prst="rect">
            <a:avLst/>
          </a:prstGeom>
          <a:solidFill>
            <a:srgbClr val="14171C">
              <a:alpha val="22000"/>
            </a:srgbClr>
          </a:solidFill>
          <a:ln/>
        </p:spPr>
      </p:sp>
      <p:sp>
        <p:nvSpPr>
          <p:cNvPr id="8" name="Text 6"/>
          <p:cNvSpPr/>
          <p:nvPr/>
        </p:nvSpPr>
        <p:spPr>
          <a:xfrm>
            <a:off x="1238250" y="2759075"/>
            <a:ext cx="4240726" cy="254000"/>
          </a:xfrm>
          <a:prstGeom prst="rect">
            <a:avLst/>
          </a:prstGeom>
          <a:noFill/>
          <a:ln/>
        </p:spPr>
        <p:txBody>
          <a:bodyPr wrap="square" lIns="25400" tIns="25400" rIns="25400" bIns="25400" rtlCol="0" anchor="ctr">
            <a:normAutofit/>
          </a:bodyPr>
          <a:lstStyle/>
          <a:p>
            <a:pPr algn="l" indent="0" marL="0">
              <a:lnSpc>
                <a:spcPct val="140000"/>
              </a:lnSpc>
              <a:buNone/>
            </a:pPr>
            <a:r>
              <a:rPr lang="en-US" sz="1350" b="1" spc="68" kern="0" dirty="0">
                <a:solidFill>
                  <a:srgbClr val="6B6E76"/>
                </a:solidFill>
                <a:latin typeface="Courier New" pitchFamily="34" charset="0"/>
                <a:ea typeface="Courier New" pitchFamily="34" charset="-122"/>
                <a:cs typeface="Courier New" pitchFamily="34" charset="-120"/>
              </a:rPr>
              <a:t>DATASET</a:t>
            </a:r>
            <a:endParaRPr lang="en-US" sz="1350" dirty="0"/>
          </a:p>
        </p:txBody>
      </p:sp>
      <p:sp>
        <p:nvSpPr>
          <p:cNvPr id="9" name="Shape 7"/>
          <p:cNvSpPr/>
          <p:nvPr/>
        </p:nvSpPr>
        <p:spPr>
          <a:xfrm>
            <a:off x="5481042" y="3098800"/>
            <a:ext cx="1866106" cy="19050"/>
          </a:xfrm>
          <a:prstGeom prst="rect">
            <a:avLst/>
          </a:prstGeom>
          <a:solidFill>
            <a:srgbClr val="14171C">
              <a:alpha val="22000"/>
            </a:srgbClr>
          </a:solidFill>
          <a:ln/>
        </p:spPr>
      </p:sp>
      <p:sp>
        <p:nvSpPr>
          <p:cNvPr id="10" name="Text 8"/>
          <p:cNvSpPr/>
          <p:nvPr/>
        </p:nvSpPr>
        <p:spPr>
          <a:xfrm>
            <a:off x="5538192" y="2759075"/>
            <a:ext cx="1675606" cy="254000"/>
          </a:xfrm>
          <a:prstGeom prst="rect">
            <a:avLst/>
          </a:prstGeom>
          <a:noFill/>
          <a:ln/>
        </p:spPr>
        <p:txBody>
          <a:bodyPr wrap="square" lIns="25400" tIns="25400" rIns="25400" bIns="25400" rtlCol="0" anchor="ctr">
            <a:normAutofit/>
          </a:bodyPr>
          <a:lstStyle/>
          <a:p>
            <a:pPr algn="r" indent="0" marL="0">
              <a:lnSpc>
                <a:spcPct val="140000"/>
              </a:lnSpc>
              <a:buNone/>
            </a:pPr>
            <a:r>
              <a:rPr lang="en-US" sz="1350" b="1" spc="68" kern="0" dirty="0">
                <a:solidFill>
                  <a:srgbClr val="6B6E76"/>
                </a:solidFill>
                <a:latin typeface="Courier New" pitchFamily="34" charset="0"/>
                <a:ea typeface="Courier New" pitchFamily="34" charset="-122"/>
                <a:cs typeface="Courier New" pitchFamily="34" charset="-120"/>
              </a:rPr>
              <a:t>POINTS</a:t>
            </a:r>
            <a:endParaRPr lang="en-US" sz="1350" dirty="0"/>
          </a:p>
        </p:txBody>
      </p:sp>
      <p:sp>
        <p:nvSpPr>
          <p:cNvPr id="11" name="Shape 9"/>
          <p:cNvSpPr/>
          <p:nvPr/>
        </p:nvSpPr>
        <p:spPr>
          <a:xfrm>
            <a:off x="7347149" y="3098800"/>
            <a:ext cx="2269331" cy="19050"/>
          </a:xfrm>
          <a:prstGeom prst="rect">
            <a:avLst/>
          </a:prstGeom>
          <a:solidFill>
            <a:srgbClr val="14171C">
              <a:alpha val="22000"/>
            </a:srgbClr>
          </a:solidFill>
          <a:ln/>
        </p:spPr>
      </p:sp>
      <p:sp>
        <p:nvSpPr>
          <p:cNvPr id="12" name="Text 10"/>
          <p:cNvSpPr/>
          <p:nvPr/>
        </p:nvSpPr>
        <p:spPr>
          <a:xfrm>
            <a:off x="7404299" y="2759075"/>
            <a:ext cx="2078831" cy="254000"/>
          </a:xfrm>
          <a:prstGeom prst="rect">
            <a:avLst/>
          </a:prstGeom>
          <a:noFill/>
          <a:ln/>
        </p:spPr>
        <p:txBody>
          <a:bodyPr wrap="square" lIns="25400" tIns="25400" rIns="25400" bIns="25400" rtlCol="0" anchor="ctr">
            <a:normAutofit/>
          </a:bodyPr>
          <a:lstStyle/>
          <a:p>
            <a:pPr algn="r" indent="0" marL="0">
              <a:lnSpc>
                <a:spcPct val="140000"/>
              </a:lnSpc>
              <a:buNone/>
            </a:pPr>
            <a:r>
              <a:rPr lang="en-US" sz="1350" b="1" spc="68" kern="0" dirty="0">
                <a:solidFill>
                  <a:srgbClr val="6B6E76"/>
                </a:solidFill>
                <a:latin typeface="Courier New" pitchFamily="34" charset="0"/>
                <a:ea typeface="Courier New" pitchFamily="34" charset="-122"/>
                <a:cs typeface="Courier New" pitchFamily="34" charset="-120"/>
              </a:rPr>
              <a:t>BOROUGHS</a:t>
            </a:r>
            <a:endParaRPr lang="en-US" sz="1350" dirty="0"/>
          </a:p>
        </p:txBody>
      </p:sp>
      <p:sp>
        <p:nvSpPr>
          <p:cNvPr id="13" name="Shape 11"/>
          <p:cNvSpPr/>
          <p:nvPr/>
        </p:nvSpPr>
        <p:spPr>
          <a:xfrm>
            <a:off x="1104900" y="3683000"/>
            <a:ext cx="4376142" cy="19050"/>
          </a:xfrm>
          <a:prstGeom prst="rect">
            <a:avLst/>
          </a:prstGeom>
          <a:solidFill>
            <a:srgbClr val="14171C">
              <a:alpha val="22000"/>
            </a:srgbClr>
          </a:solidFill>
          <a:ln/>
        </p:spPr>
      </p:sp>
      <p:sp>
        <p:nvSpPr>
          <p:cNvPr id="14" name="Text 12"/>
          <p:cNvSpPr/>
          <p:nvPr/>
        </p:nvSpPr>
        <p:spPr>
          <a:xfrm>
            <a:off x="1238250" y="3241675"/>
            <a:ext cx="4240726" cy="355600"/>
          </a:xfrm>
          <a:prstGeom prst="rect">
            <a:avLst/>
          </a:prstGeom>
          <a:noFill/>
          <a:ln/>
        </p:spPr>
        <p:txBody>
          <a:bodyPr wrap="square" lIns="25400" tIns="25400" rIns="25400" bIns="25400" rtlCol="0" anchor="ctr">
            <a:normAutofit/>
          </a:bodyPr>
          <a:lstStyle/>
          <a:p>
            <a:pPr algn="l" indent="0" marL="0">
              <a:lnSpc>
                <a:spcPct val="140000"/>
              </a:lnSpc>
              <a:buNone/>
            </a:pPr>
            <a:r>
              <a:rPr lang="en-US" sz="1800" b="1" dirty="0">
                <a:solidFill>
                  <a:srgbClr val="14171C"/>
                </a:solidFill>
                <a:latin typeface="Arial" pitchFamily="34" charset="0"/>
                <a:ea typeface="Arial" pitchFamily="34" charset="-122"/>
                <a:cs typeface="Arial" pitchFamily="34" charset="-120"/>
              </a:rPr>
              <a:t>Schools</a:t>
            </a:r>
            <a:endParaRPr lang="en-US" sz="1800" dirty="0"/>
          </a:p>
        </p:txBody>
      </p:sp>
      <p:sp>
        <p:nvSpPr>
          <p:cNvPr id="15" name="Shape 13"/>
          <p:cNvSpPr/>
          <p:nvPr/>
        </p:nvSpPr>
        <p:spPr>
          <a:xfrm>
            <a:off x="5481042" y="3683000"/>
            <a:ext cx="1866106" cy="19050"/>
          </a:xfrm>
          <a:prstGeom prst="rect">
            <a:avLst/>
          </a:prstGeom>
          <a:solidFill>
            <a:srgbClr val="14171C">
              <a:alpha val="22000"/>
            </a:srgbClr>
          </a:solidFill>
          <a:ln/>
        </p:spPr>
      </p:sp>
      <p:sp>
        <p:nvSpPr>
          <p:cNvPr id="16" name="Text 14"/>
          <p:cNvSpPr/>
          <p:nvPr/>
        </p:nvSpPr>
        <p:spPr>
          <a:xfrm>
            <a:off x="5538192" y="3241675"/>
            <a:ext cx="1675606"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1,000</a:t>
            </a:r>
            <a:endParaRPr lang="en-US" sz="1800" dirty="0"/>
          </a:p>
        </p:txBody>
      </p:sp>
      <p:sp>
        <p:nvSpPr>
          <p:cNvPr id="17" name="Shape 15"/>
          <p:cNvSpPr/>
          <p:nvPr/>
        </p:nvSpPr>
        <p:spPr>
          <a:xfrm>
            <a:off x="7347149" y="3683000"/>
            <a:ext cx="2269331" cy="19050"/>
          </a:xfrm>
          <a:prstGeom prst="rect">
            <a:avLst/>
          </a:prstGeom>
          <a:solidFill>
            <a:srgbClr val="14171C">
              <a:alpha val="22000"/>
            </a:srgbClr>
          </a:solidFill>
          <a:ln/>
        </p:spPr>
      </p:sp>
      <p:sp>
        <p:nvSpPr>
          <p:cNvPr id="18" name="Text 16"/>
          <p:cNvSpPr/>
          <p:nvPr/>
        </p:nvSpPr>
        <p:spPr>
          <a:xfrm>
            <a:off x="7404299" y="3241675"/>
            <a:ext cx="2078831"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4</a:t>
            </a:r>
            <a:endParaRPr lang="en-US" sz="1800" dirty="0"/>
          </a:p>
        </p:txBody>
      </p:sp>
      <p:sp>
        <p:nvSpPr>
          <p:cNvPr id="19" name="Shape 17"/>
          <p:cNvSpPr/>
          <p:nvPr/>
        </p:nvSpPr>
        <p:spPr>
          <a:xfrm>
            <a:off x="1104900" y="4267200"/>
            <a:ext cx="4376142" cy="19050"/>
          </a:xfrm>
          <a:prstGeom prst="rect">
            <a:avLst/>
          </a:prstGeom>
          <a:solidFill>
            <a:srgbClr val="14171C">
              <a:alpha val="22000"/>
            </a:srgbClr>
          </a:solidFill>
          <a:ln/>
        </p:spPr>
      </p:sp>
      <p:sp>
        <p:nvSpPr>
          <p:cNvPr id="20" name="Text 18"/>
          <p:cNvSpPr/>
          <p:nvPr/>
        </p:nvSpPr>
        <p:spPr>
          <a:xfrm>
            <a:off x="1238250" y="3825875"/>
            <a:ext cx="4240726" cy="355600"/>
          </a:xfrm>
          <a:prstGeom prst="rect">
            <a:avLst/>
          </a:prstGeom>
          <a:noFill/>
          <a:ln/>
        </p:spPr>
        <p:txBody>
          <a:bodyPr wrap="square" lIns="25400" tIns="25400" rIns="25400" bIns="25400" rtlCol="0" anchor="ctr">
            <a:normAutofit/>
          </a:bodyPr>
          <a:lstStyle/>
          <a:p>
            <a:pPr algn="l" indent="0" marL="0">
              <a:lnSpc>
                <a:spcPct val="140000"/>
              </a:lnSpc>
              <a:buNone/>
            </a:pPr>
            <a:r>
              <a:rPr lang="en-US" sz="1800" b="1" dirty="0">
                <a:solidFill>
                  <a:srgbClr val="14171C"/>
                </a:solidFill>
                <a:latin typeface="Arial" pitchFamily="34" charset="0"/>
                <a:ea typeface="Arial" pitchFamily="34" charset="-122"/>
                <a:cs typeface="Arial" pitchFamily="34" charset="-120"/>
              </a:rPr>
              <a:t>CCTV cameras</a:t>
            </a:r>
            <a:endParaRPr lang="en-US" sz="1800" dirty="0"/>
          </a:p>
        </p:txBody>
      </p:sp>
      <p:sp>
        <p:nvSpPr>
          <p:cNvPr id="21" name="Shape 19"/>
          <p:cNvSpPr/>
          <p:nvPr/>
        </p:nvSpPr>
        <p:spPr>
          <a:xfrm>
            <a:off x="5481042" y="4267200"/>
            <a:ext cx="1866106" cy="19050"/>
          </a:xfrm>
          <a:prstGeom prst="rect">
            <a:avLst/>
          </a:prstGeom>
          <a:solidFill>
            <a:srgbClr val="14171C">
              <a:alpha val="22000"/>
            </a:srgbClr>
          </a:solidFill>
          <a:ln/>
        </p:spPr>
      </p:sp>
      <p:sp>
        <p:nvSpPr>
          <p:cNvPr id="22" name="Text 20"/>
          <p:cNvSpPr/>
          <p:nvPr/>
        </p:nvSpPr>
        <p:spPr>
          <a:xfrm>
            <a:off x="5538192" y="3825875"/>
            <a:ext cx="1675606"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549</a:t>
            </a:r>
            <a:endParaRPr lang="en-US" sz="1800" dirty="0"/>
          </a:p>
        </p:txBody>
      </p:sp>
      <p:sp>
        <p:nvSpPr>
          <p:cNvPr id="23" name="Shape 21"/>
          <p:cNvSpPr/>
          <p:nvPr/>
        </p:nvSpPr>
        <p:spPr>
          <a:xfrm>
            <a:off x="7347149" y="4267200"/>
            <a:ext cx="2269331" cy="19050"/>
          </a:xfrm>
          <a:prstGeom prst="rect">
            <a:avLst/>
          </a:prstGeom>
          <a:solidFill>
            <a:srgbClr val="14171C">
              <a:alpha val="22000"/>
            </a:srgbClr>
          </a:solidFill>
          <a:ln/>
        </p:spPr>
      </p:sp>
      <p:sp>
        <p:nvSpPr>
          <p:cNvPr id="24" name="Text 22"/>
          <p:cNvSpPr/>
          <p:nvPr/>
        </p:nvSpPr>
        <p:spPr>
          <a:xfrm>
            <a:off x="7404299" y="3825875"/>
            <a:ext cx="2078831"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2</a:t>
            </a:r>
            <a:endParaRPr lang="en-US" sz="1800" dirty="0"/>
          </a:p>
        </p:txBody>
      </p:sp>
      <p:sp>
        <p:nvSpPr>
          <p:cNvPr id="25" name="Shape 23"/>
          <p:cNvSpPr/>
          <p:nvPr/>
        </p:nvSpPr>
        <p:spPr>
          <a:xfrm>
            <a:off x="1104900" y="4851400"/>
            <a:ext cx="4376142" cy="19050"/>
          </a:xfrm>
          <a:prstGeom prst="rect">
            <a:avLst/>
          </a:prstGeom>
          <a:solidFill>
            <a:srgbClr val="14171C">
              <a:alpha val="22000"/>
            </a:srgbClr>
          </a:solidFill>
          <a:ln/>
        </p:spPr>
      </p:sp>
      <p:sp>
        <p:nvSpPr>
          <p:cNvPr id="26" name="Text 24"/>
          <p:cNvSpPr/>
          <p:nvPr/>
        </p:nvSpPr>
        <p:spPr>
          <a:xfrm>
            <a:off x="1238250" y="4410075"/>
            <a:ext cx="4240726" cy="355600"/>
          </a:xfrm>
          <a:prstGeom prst="rect">
            <a:avLst/>
          </a:prstGeom>
          <a:noFill/>
          <a:ln/>
        </p:spPr>
        <p:txBody>
          <a:bodyPr wrap="square" lIns="25400" tIns="25400" rIns="25400" bIns="25400" rtlCol="0" anchor="ctr">
            <a:normAutofit/>
          </a:bodyPr>
          <a:lstStyle/>
          <a:p>
            <a:pPr algn="l" indent="0" marL="0">
              <a:lnSpc>
                <a:spcPct val="140000"/>
              </a:lnSpc>
              <a:buNone/>
            </a:pPr>
            <a:r>
              <a:rPr lang="en-US" sz="1800" b="1" dirty="0">
                <a:solidFill>
                  <a:srgbClr val="14171C"/>
                </a:solidFill>
                <a:latin typeface="Arial" pitchFamily="34" charset="0"/>
                <a:ea typeface="Arial" pitchFamily="34" charset="-122"/>
                <a:cs typeface="Arial" pitchFamily="34" charset="-120"/>
              </a:rPr>
              <a:t>Polling stations</a:t>
            </a:r>
            <a:endParaRPr lang="en-US" sz="1800" dirty="0"/>
          </a:p>
        </p:txBody>
      </p:sp>
      <p:sp>
        <p:nvSpPr>
          <p:cNvPr id="27" name="Shape 25"/>
          <p:cNvSpPr/>
          <p:nvPr/>
        </p:nvSpPr>
        <p:spPr>
          <a:xfrm>
            <a:off x="5481042" y="4851400"/>
            <a:ext cx="1866106" cy="19050"/>
          </a:xfrm>
          <a:prstGeom prst="rect">
            <a:avLst/>
          </a:prstGeom>
          <a:solidFill>
            <a:srgbClr val="14171C">
              <a:alpha val="22000"/>
            </a:srgbClr>
          </a:solidFill>
          <a:ln/>
        </p:spPr>
      </p:sp>
      <p:sp>
        <p:nvSpPr>
          <p:cNvPr id="28" name="Text 26"/>
          <p:cNvSpPr/>
          <p:nvPr/>
        </p:nvSpPr>
        <p:spPr>
          <a:xfrm>
            <a:off x="5538192" y="4410075"/>
            <a:ext cx="1675606"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464</a:t>
            </a:r>
            <a:endParaRPr lang="en-US" sz="1800" dirty="0"/>
          </a:p>
        </p:txBody>
      </p:sp>
      <p:sp>
        <p:nvSpPr>
          <p:cNvPr id="29" name="Shape 27"/>
          <p:cNvSpPr/>
          <p:nvPr/>
        </p:nvSpPr>
        <p:spPr>
          <a:xfrm>
            <a:off x="7347149" y="4851400"/>
            <a:ext cx="2269331" cy="19050"/>
          </a:xfrm>
          <a:prstGeom prst="rect">
            <a:avLst/>
          </a:prstGeom>
          <a:solidFill>
            <a:srgbClr val="14171C">
              <a:alpha val="22000"/>
            </a:srgbClr>
          </a:solidFill>
          <a:ln/>
        </p:spPr>
      </p:sp>
      <p:sp>
        <p:nvSpPr>
          <p:cNvPr id="30" name="Text 28"/>
          <p:cNvSpPr/>
          <p:nvPr/>
        </p:nvSpPr>
        <p:spPr>
          <a:xfrm>
            <a:off x="7404299" y="4410075"/>
            <a:ext cx="2078831"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7</a:t>
            </a:r>
            <a:endParaRPr lang="en-US" sz="1800" dirty="0"/>
          </a:p>
        </p:txBody>
      </p:sp>
      <p:sp>
        <p:nvSpPr>
          <p:cNvPr id="31" name="Shape 29"/>
          <p:cNvSpPr/>
          <p:nvPr/>
        </p:nvSpPr>
        <p:spPr>
          <a:xfrm>
            <a:off x="1104900" y="5435600"/>
            <a:ext cx="4376142" cy="19050"/>
          </a:xfrm>
          <a:prstGeom prst="rect">
            <a:avLst/>
          </a:prstGeom>
          <a:solidFill>
            <a:srgbClr val="14171C">
              <a:alpha val="22000"/>
            </a:srgbClr>
          </a:solidFill>
          <a:ln/>
        </p:spPr>
      </p:sp>
      <p:sp>
        <p:nvSpPr>
          <p:cNvPr id="32" name="Text 30"/>
          <p:cNvSpPr/>
          <p:nvPr/>
        </p:nvSpPr>
        <p:spPr>
          <a:xfrm>
            <a:off x="1238250" y="4994275"/>
            <a:ext cx="4240726" cy="355600"/>
          </a:xfrm>
          <a:prstGeom prst="rect">
            <a:avLst/>
          </a:prstGeom>
          <a:noFill/>
          <a:ln/>
        </p:spPr>
        <p:txBody>
          <a:bodyPr wrap="square" lIns="25400" tIns="25400" rIns="25400" bIns="25400" rtlCol="0" anchor="ctr">
            <a:normAutofit/>
          </a:bodyPr>
          <a:lstStyle/>
          <a:p>
            <a:pPr algn="l" indent="0" marL="0">
              <a:lnSpc>
                <a:spcPct val="140000"/>
              </a:lnSpc>
              <a:buNone/>
            </a:pPr>
            <a:r>
              <a:rPr lang="en-US" sz="1800" b="1" dirty="0">
                <a:solidFill>
                  <a:srgbClr val="14171C"/>
                </a:solidFill>
                <a:latin typeface="Arial" pitchFamily="34" charset="0"/>
                <a:ea typeface="Arial" pitchFamily="34" charset="-122"/>
                <a:cs typeface="Arial" pitchFamily="34" charset="-120"/>
              </a:rPr>
              <a:t>Grit bins</a:t>
            </a:r>
            <a:endParaRPr lang="en-US" sz="1800" dirty="0"/>
          </a:p>
        </p:txBody>
      </p:sp>
      <p:sp>
        <p:nvSpPr>
          <p:cNvPr id="33" name="Shape 31"/>
          <p:cNvSpPr/>
          <p:nvPr/>
        </p:nvSpPr>
        <p:spPr>
          <a:xfrm>
            <a:off x="5481042" y="5435600"/>
            <a:ext cx="1866106" cy="19050"/>
          </a:xfrm>
          <a:prstGeom prst="rect">
            <a:avLst/>
          </a:prstGeom>
          <a:solidFill>
            <a:srgbClr val="14171C">
              <a:alpha val="22000"/>
            </a:srgbClr>
          </a:solidFill>
          <a:ln/>
        </p:spPr>
      </p:sp>
      <p:sp>
        <p:nvSpPr>
          <p:cNvPr id="34" name="Text 32"/>
          <p:cNvSpPr/>
          <p:nvPr/>
        </p:nvSpPr>
        <p:spPr>
          <a:xfrm>
            <a:off x="5538192" y="4994275"/>
            <a:ext cx="1675606"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376</a:t>
            </a:r>
            <a:endParaRPr lang="en-US" sz="1800" dirty="0"/>
          </a:p>
        </p:txBody>
      </p:sp>
      <p:sp>
        <p:nvSpPr>
          <p:cNvPr id="35" name="Shape 33"/>
          <p:cNvSpPr/>
          <p:nvPr/>
        </p:nvSpPr>
        <p:spPr>
          <a:xfrm>
            <a:off x="7347149" y="5435600"/>
            <a:ext cx="2269331" cy="19050"/>
          </a:xfrm>
          <a:prstGeom prst="rect">
            <a:avLst/>
          </a:prstGeom>
          <a:solidFill>
            <a:srgbClr val="14171C">
              <a:alpha val="22000"/>
            </a:srgbClr>
          </a:solidFill>
          <a:ln/>
        </p:spPr>
      </p:sp>
      <p:sp>
        <p:nvSpPr>
          <p:cNvPr id="36" name="Text 34"/>
          <p:cNvSpPr/>
          <p:nvPr/>
        </p:nvSpPr>
        <p:spPr>
          <a:xfrm>
            <a:off x="7404299" y="4994275"/>
            <a:ext cx="2078831"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4</a:t>
            </a:r>
            <a:endParaRPr lang="en-US" sz="1800" dirty="0"/>
          </a:p>
        </p:txBody>
      </p:sp>
      <p:sp>
        <p:nvSpPr>
          <p:cNvPr id="37" name="Shape 35"/>
          <p:cNvSpPr/>
          <p:nvPr/>
        </p:nvSpPr>
        <p:spPr>
          <a:xfrm>
            <a:off x="1104900" y="6019800"/>
            <a:ext cx="4376142" cy="19050"/>
          </a:xfrm>
          <a:prstGeom prst="rect">
            <a:avLst/>
          </a:prstGeom>
          <a:solidFill>
            <a:srgbClr val="14171C">
              <a:alpha val="22000"/>
            </a:srgbClr>
          </a:solidFill>
          <a:ln/>
        </p:spPr>
      </p:sp>
      <p:sp>
        <p:nvSpPr>
          <p:cNvPr id="38" name="Text 36"/>
          <p:cNvSpPr/>
          <p:nvPr/>
        </p:nvSpPr>
        <p:spPr>
          <a:xfrm>
            <a:off x="1238250" y="5578475"/>
            <a:ext cx="4240726" cy="355600"/>
          </a:xfrm>
          <a:prstGeom prst="rect">
            <a:avLst/>
          </a:prstGeom>
          <a:noFill/>
          <a:ln/>
        </p:spPr>
        <p:txBody>
          <a:bodyPr wrap="square" lIns="25400" tIns="25400" rIns="25400" bIns="25400" rtlCol="0" anchor="ctr">
            <a:normAutofit/>
          </a:bodyPr>
          <a:lstStyle/>
          <a:p>
            <a:pPr algn="l" indent="0" marL="0">
              <a:lnSpc>
                <a:spcPct val="140000"/>
              </a:lnSpc>
              <a:buNone/>
            </a:pPr>
            <a:r>
              <a:rPr lang="en-US" sz="1800" b="1" dirty="0">
                <a:solidFill>
                  <a:srgbClr val="14171C"/>
                </a:solidFill>
                <a:latin typeface="Arial" pitchFamily="34" charset="0"/>
                <a:ea typeface="Arial" pitchFamily="34" charset="-122"/>
                <a:cs typeface="Arial" pitchFamily="34" charset="-120"/>
              </a:rPr>
              <a:t>Public toilets</a:t>
            </a:r>
            <a:endParaRPr lang="en-US" sz="1800" dirty="0"/>
          </a:p>
        </p:txBody>
      </p:sp>
      <p:sp>
        <p:nvSpPr>
          <p:cNvPr id="39" name="Shape 37"/>
          <p:cNvSpPr/>
          <p:nvPr/>
        </p:nvSpPr>
        <p:spPr>
          <a:xfrm>
            <a:off x="5481042" y="6019800"/>
            <a:ext cx="1866106" cy="19050"/>
          </a:xfrm>
          <a:prstGeom prst="rect">
            <a:avLst/>
          </a:prstGeom>
          <a:solidFill>
            <a:srgbClr val="14171C">
              <a:alpha val="22000"/>
            </a:srgbClr>
          </a:solidFill>
          <a:ln/>
        </p:spPr>
      </p:sp>
      <p:sp>
        <p:nvSpPr>
          <p:cNvPr id="40" name="Text 38"/>
          <p:cNvSpPr/>
          <p:nvPr/>
        </p:nvSpPr>
        <p:spPr>
          <a:xfrm>
            <a:off x="5538192" y="5578475"/>
            <a:ext cx="1675606"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216</a:t>
            </a:r>
            <a:endParaRPr lang="en-US" sz="1800" dirty="0"/>
          </a:p>
        </p:txBody>
      </p:sp>
      <p:sp>
        <p:nvSpPr>
          <p:cNvPr id="41" name="Shape 39"/>
          <p:cNvSpPr/>
          <p:nvPr/>
        </p:nvSpPr>
        <p:spPr>
          <a:xfrm>
            <a:off x="7347149" y="6019800"/>
            <a:ext cx="2269331" cy="19050"/>
          </a:xfrm>
          <a:prstGeom prst="rect">
            <a:avLst/>
          </a:prstGeom>
          <a:solidFill>
            <a:srgbClr val="14171C">
              <a:alpha val="22000"/>
            </a:srgbClr>
          </a:solidFill>
          <a:ln/>
        </p:spPr>
      </p:sp>
      <p:sp>
        <p:nvSpPr>
          <p:cNvPr id="42" name="Text 40"/>
          <p:cNvSpPr/>
          <p:nvPr/>
        </p:nvSpPr>
        <p:spPr>
          <a:xfrm>
            <a:off x="7404299" y="5578475"/>
            <a:ext cx="2078831"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5</a:t>
            </a:r>
            <a:endParaRPr lang="en-US" sz="1800" dirty="0"/>
          </a:p>
        </p:txBody>
      </p:sp>
      <p:sp>
        <p:nvSpPr>
          <p:cNvPr id="43" name="Shape 41"/>
          <p:cNvSpPr/>
          <p:nvPr/>
        </p:nvSpPr>
        <p:spPr>
          <a:xfrm>
            <a:off x="1104900" y="6604000"/>
            <a:ext cx="4376142" cy="19050"/>
          </a:xfrm>
          <a:prstGeom prst="rect">
            <a:avLst/>
          </a:prstGeom>
          <a:solidFill>
            <a:srgbClr val="14171C">
              <a:alpha val="22000"/>
            </a:srgbClr>
          </a:solidFill>
          <a:ln/>
        </p:spPr>
      </p:sp>
      <p:sp>
        <p:nvSpPr>
          <p:cNvPr id="44" name="Text 42"/>
          <p:cNvSpPr/>
          <p:nvPr/>
        </p:nvSpPr>
        <p:spPr>
          <a:xfrm>
            <a:off x="1238250" y="6162675"/>
            <a:ext cx="4240726" cy="355600"/>
          </a:xfrm>
          <a:prstGeom prst="rect">
            <a:avLst/>
          </a:prstGeom>
          <a:noFill/>
          <a:ln/>
        </p:spPr>
        <p:txBody>
          <a:bodyPr wrap="square" lIns="25400" tIns="25400" rIns="25400" bIns="25400" rtlCol="0" anchor="ctr">
            <a:normAutofit/>
          </a:bodyPr>
          <a:lstStyle/>
          <a:p>
            <a:pPr algn="l" indent="0" marL="0">
              <a:lnSpc>
                <a:spcPct val="140000"/>
              </a:lnSpc>
              <a:buNone/>
            </a:pPr>
            <a:r>
              <a:rPr lang="en-US" sz="1800" b="1" dirty="0">
                <a:solidFill>
                  <a:srgbClr val="14171C"/>
                </a:solidFill>
                <a:latin typeface="Arial" pitchFamily="34" charset="0"/>
                <a:ea typeface="Arial" pitchFamily="34" charset="-122"/>
                <a:cs typeface="Arial" pitchFamily="34" charset="-120"/>
              </a:rPr>
              <a:t>Reception centres</a:t>
            </a:r>
            <a:endParaRPr lang="en-US" sz="1800" dirty="0"/>
          </a:p>
        </p:txBody>
      </p:sp>
      <p:sp>
        <p:nvSpPr>
          <p:cNvPr id="45" name="Shape 43"/>
          <p:cNvSpPr/>
          <p:nvPr/>
        </p:nvSpPr>
        <p:spPr>
          <a:xfrm>
            <a:off x="5481042" y="6604000"/>
            <a:ext cx="1866106" cy="19050"/>
          </a:xfrm>
          <a:prstGeom prst="rect">
            <a:avLst/>
          </a:prstGeom>
          <a:solidFill>
            <a:srgbClr val="14171C">
              <a:alpha val="22000"/>
            </a:srgbClr>
          </a:solidFill>
          <a:ln/>
        </p:spPr>
      </p:sp>
      <p:sp>
        <p:nvSpPr>
          <p:cNvPr id="46" name="Text 44"/>
          <p:cNvSpPr/>
          <p:nvPr/>
        </p:nvSpPr>
        <p:spPr>
          <a:xfrm>
            <a:off x="5538192" y="6162675"/>
            <a:ext cx="1675606"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47</a:t>
            </a:r>
            <a:endParaRPr lang="en-US" sz="1800" dirty="0"/>
          </a:p>
        </p:txBody>
      </p:sp>
      <p:sp>
        <p:nvSpPr>
          <p:cNvPr id="47" name="Shape 45"/>
          <p:cNvSpPr/>
          <p:nvPr/>
        </p:nvSpPr>
        <p:spPr>
          <a:xfrm>
            <a:off x="7347149" y="6604000"/>
            <a:ext cx="2269331" cy="19050"/>
          </a:xfrm>
          <a:prstGeom prst="rect">
            <a:avLst/>
          </a:prstGeom>
          <a:solidFill>
            <a:srgbClr val="14171C">
              <a:alpha val="22000"/>
            </a:srgbClr>
          </a:solidFill>
          <a:ln/>
        </p:spPr>
      </p:sp>
      <p:sp>
        <p:nvSpPr>
          <p:cNvPr id="48" name="Text 46"/>
          <p:cNvSpPr/>
          <p:nvPr/>
        </p:nvSpPr>
        <p:spPr>
          <a:xfrm>
            <a:off x="7404299" y="6162675"/>
            <a:ext cx="2078831" cy="3556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2</a:t>
            </a:r>
            <a:endParaRPr lang="en-US" sz="1800" dirty="0"/>
          </a:p>
        </p:txBody>
      </p:sp>
      <p:sp>
        <p:nvSpPr>
          <p:cNvPr id="49" name="Text 47"/>
          <p:cNvSpPr/>
          <p:nvPr/>
        </p:nvSpPr>
        <p:spPr>
          <a:xfrm>
            <a:off x="1238250" y="6746875"/>
            <a:ext cx="4240726" cy="368300"/>
          </a:xfrm>
          <a:prstGeom prst="rect">
            <a:avLst/>
          </a:prstGeom>
          <a:noFill/>
          <a:ln/>
        </p:spPr>
        <p:txBody>
          <a:bodyPr wrap="square" lIns="25400" tIns="25400" rIns="25400" bIns="25400" rtlCol="0" anchor="ctr">
            <a:normAutofit/>
          </a:bodyPr>
          <a:lstStyle/>
          <a:p>
            <a:pPr algn="l" indent="0" marL="0">
              <a:lnSpc>
                <a:spcPct val="140000"/>
              </a:lnSpc>
              <a:buNone/>
            </a:pPr>
            <a:r>
              <a:rPr lang="en-US" sz="1800" b="1" dirty="0">
                <a:solidFill>
                  <a:srgbClr val="14171C"/>
                </a:solidFill>
                <a:latin typeface="Arial" pitchFamily="34" charset="0"/>
                <a:ea typeface="Arial" pitchFamily="34" charset="-122"/>
                <a:cs typeface="Arial" pitchFamily="34" charset="-120"/>
              </a:rPr>
              <a:t>Libraries</a:t>
            </a:r>
            <a:endParaRPr lang="en-US" sz="1800" dirty="0"/>
          </a:p>
        </p:txBody>
      </p:sp>
      <p:sp>
        <p:nvSpPr>
          <p:cNvPr id="50" name="Text 48"/>
          <p:cNvSpPr/>
          <p:nvPr/>
        </p:nvSpPr>
        <p:spPr>
          <a:xfrm>
            <a:off x="5538192" y="6746875"/>
            <a:ext cx="1675606" cy="3683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42</a:t>
            </a:r>
            <a:endParaRPr lang="en-US" sz="1800" dirty="0"/>
          </a:p>
        </p:txBody>
      </p:sp>
      <p:sp>
        <p:nvSpPr>
          <p:cNvPr id="51" name="Text 49"/>
          <p:cNvSpPr/>
          <p:nvPr/>
        </p:nvSpPr>
        <p:spPr>
          <a:xfrm>
            <a:off x="7404299" y="6746875"/>
            <a:ext cx="2078831" cy="368300"/>
          </a:xfrm>
          <a:prstGeom prst="rect">
            <a:avLst/>
          </a:prstGeom>
          <a:noFill/>
          <a:ln/>
        </p:spPr>
        <p:txBody>
          <a:bodyPr wrap="square" lIns="25400" tIns="25400" rIns="25400" bIns="25400" rtlCol="0" anchor="ctr">
            <a:normAutofit/>
          </a:bodyPr>
          <a:lstStyle/>
          <a:p>
            <a:pPr algn="r" indent="0" marL="0">
              <a:lnSpc>
                <a:spcPct val="140000"/>
              </a:lnSpc>
              <a:buNone/>
            </a:pPr>
            <a:r>
              <a:rPr lang="en-US" sz="1800" b="1" dirty="0">
                <a:solidFill>
                  <a:srgbClr val="14171C"/>
                </a:solidFill>
                <a:latin typeface="Courier New" pitchFamily="34" charset="0"/>
                <a:ea typeface="Courier New" pitchFamily="34" charset="-122"/>
                <a:cs typeface="Courier New" pitchFamily="34" charset="-120"/>
              </a:rPr>
              <a:t>4</a:t>
            </a:r>
            <a:endParaRPr lang="en-US" sz="1800" dirty="0"/>
          </a:p>
        </p:txBody>
      </p:sp>
      <p:sp>
        <p:nvSpPr>
          <p:cNvPr id="52" name="Shape 50"/>
          <p:cNvSpPr/>
          <p:nvPr/>
        </p:nvSpPr>
        <p:spPr>
          <a:xfrm>
            <a:off x="10321132" y="2927350"/>
            <a:ext cx="7166769" cy="1885950"/>
          </a:xfrm>
          <a:prstGeom prst="roundRect">
            <a:avLst>
              <a:gd name="adj" fmla="val 9091"/>
            </a:avLst>
          </a:prstGeom>
          <a:solidFill>
            <a:srgbClr val="E6DFFD"/>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53" name="Text 51"/>
          <p:cNvSpPr/>
          <p:nvPr/>
        </p:nvSpPr>
        <p:spPr>
          <a:xfrm>
            <a:off x="10625932" y="3194050"/>
            <a:ext cx="6753884"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COVERAGE</a:t>
            </a:r>
            <a:endParaRPr lang="en-US" sz="1500" dirty="0"/>
          </a:p>
        </p:txBody>
      </p:sp>
      <p:sp>
        <p:nvSpPr>
          <p:cNvPr id="54" name="Text 52"/>
          <p:cNvSpPr/>
          <p:nvPr/>
        </p:nvSpPr>
        <p:spPr>
          <a:xfrm>
            <a:off x="10625932" y="3517900"/>
            <a:ext cx="6753884" cy="317500"/>
          </a:xfrm>
          <a:prstGeom prst="rect">
            <a:avLst/>
          </a:prstGeom>
          <a:noFill/>
          <a:ln/>
        </p:spPr>
        <p:txBody>
          <a:bodyPr wrap="square" lIns="25400" tIns="25400" rIns="25400" bIns="25400" rtlCol="0" anchor="t">
            <a:normAutofit/>
          </a:bodyPr>
          <a:lstStyle/>
          <a:p>
            <a:pPr algn="l" indent="0" marL="0">
              <a:lnSpc>
                <a:spcPct val="112000"/>
              </a:lnSpc>
              <a:buNone/>
            </a:pPr>
            <a:r>
              <a:rPr lang="en-US" sz="2025" b="1" spc="-20" kern="0" dirty="0">
                <a:solidFill>
                  <a:srgbClr val="14171C"/>
                </a:solidFill>
                <a:latin typeface="Arial" pitchFamily="34" charset="0"/>
                <a:ea typeface="Arial" pitchFamily="34" charset="-122"/>
                <a:cs typeface="Arial" pitchFamily="34" charset="-120"/>
              </a:rPr>
              <a:t>~8 of 33 London authorities</a:t>
            </a:r>
            <a:endParaRPr lang="en-US" sz="2025" dirty="0"/>
          </a:p>
        </p:txBody>
      </p:sp>
      <p:sp>
        <p:nvSpPr>
          <p:cNvPr id="55" name="Text 53"/>
          <p:cNvSpPr/>
          <p:nvPr/>
        </p:nvSpPr>
        <p:spPr>
          <a:xfrm>
            <a:off x="10625932" y="3911600"/>
            <a:ext cx="6753884" cy="6731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Partial by design: the demo focuses on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Lambeth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 the one borough with CCTV </a:t>
            </a:r>
            <a:pPr algn="l" indent="0" marL="0">
              <a:lnSpc>
                <a:spcPct val="140000"/>
              </a:lnSpc>
              <a:buNone/>
            </a:pPr>
            <a:r>
              <a:rPr lang="en-US" sz="1800" i="1" dirty="0">
                <a:solidFill>
                  <a:srgbClr val="2A2F37"/>
                </a:solidFill>
                <a:latin typeface="Arial" pitchFamily="34" charset="0"/>
                <a:ea typeface="Arial" pitchFamily="34" charset="-122"/>
                <a:cs typeface="Arial" pitchFamily="34" charset="-120"/>
              </a:rPr>
              <a:t>and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every destination type.</a:t>
            </a:r>
            <a:endParaRPr lang="en-US" sz="1800" dirty="0"/>
          </a:p>
        </p:txBody>
      </p:sp>
      <p:sp>
        <p:nvSpPr>
          <p:cNvPr id="56" name="Shape 54"/>
          <p:cNvSpPr/>
          <p:nvPr/>
        </p:nvSpPr>
        <p:spPr>
          <a:xfrm>
            <a:off x="10321132" y="5022850"/>
            <a:ext cx="7166769" cy="1885950"/>
          </a:xfrm>
          <a:prstGeom prst="roundRect">
            <a:avLst>
              <a:gd name="adj" fmla="val 9091"/>
            </a:avLst>
          </a:prstGeom>
          <a:solidFill>
            <a:srgbClr val="D2F0E6"/>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57" name="Text 55"/>
          <p:cNvSpPr/>
          <p:nvPr/>
        </p:nvSpPr>
        <p:spPr>
          <a:xfrm>
            <a:off x="10625932" y="5289550"/>
            <a:ext cx="6753884"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PROVENANCE</a:t>
            </a:r>
            <a:endParaRPr lang="en-US" sz="1500" dirty="0"/>
          </a:p>
        </p:txBody>
      </p:sp>
      <p:sp>
        <p:nvSpPr>
          <p:cNvPr id="58" name="Text 56"/>
          <p:cNvSpPr/>
          <p:nvPr/>
        </p:nvSpPr>
        <p:spPr>
          <a:xfrm>
            <a:off x="10625932" y="5613400"/>
            <a:ext cx="6753884" cy="317500"/>
          </a:xfrm>
          <a:prstGeom prst="rect">
            <a:avLst/>
          </a:prstGeom>
          <a:noFill/>
          <a:ln/>
        </p:spPr>
        <p:txBody>
          <a:bodyPr wrap="square" lIns="25400" tIns="25400" rIns="25400" bIns="25400" rtlCol="0" anchor="t">
            <a:normAutofit/>
          </a:bodyPr>
          <a:lstStyle/>
          <a:p>
            <a:pPr algn="l" indent="0" marL="0">
              <a:lnSpc>
                <a:spcPct val="112000"/>
              </a:lnSpc>
              <a:buNone/>
            </a:pPr>
            <a:r>
              <a:rPr lang="en-US" sz="2025" b="1" spc="-20" kern="0" dirty="0">
                <a:solidFill>
                  <a:srgbClr val="14171C"/>
                </a:solidFill>
                <a:latin typeface="Arial" pitchFamily="34" charset="0"/>
                <a:ea typeface="Arial" pitchFamily="34" charset="-122"/>
                <a:cs typeface="Arial" pitchFamily="34" charset="-120"/>
              </a:rPr>
              <a:t>Sources &amp; licences documented</a:t>
            </a:r>
            <a:endParaRPr lang="en-US" sz="2025" dirty="0"/>
          </a:p>
        </p:txBody>
      </p:sp>
      <p:sp>
        <p:nvSpPr>
          <p:cNvPr id="59" name="Text 57"/>
          <p:cNvSpPr/>
          <p:nvPr/>
        </p:nvSpPr>
        <p:spPr>
          <a:xfrm>
            <a:off x="10625932" y="6007100"/>
            <a:ext cx="6753884" cy="6731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Every dataset traces to a published open-data source.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Real, not mocked.</a:t>
            </a:r>
            <a:endParaRPr lang="en-US" sz="1800" dirty="0"/>
          </a:p>
        </p:txBody>
      </p:sp>
      <p:sp>
        <p:nvSpPr>
          <p:cNvPr id="60" name="Text 58"/>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61" name="Text 59"/>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08 / 12</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09</a:t>
            </a:r>
            <a:endParaRPr lang="en-US" sz="2100" dirty="0"/>
          </a:p>
        </p:txBody>
      </p:sp>
      <p:sp>
        <p:nvSpPr>
          <p:cNvPr id="4" name="Text 2"/>
          <p:cNvSpPr/>
          <p:nvPr/>
        </p:nvSpPr>
        <p:spPr>
          <a:xfrm>
            <a:off x="1752600" y="784225"/>
            <a:ext cx="2389981"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best use of nemotron</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A full Nemotron lineup </a:t>
            </a:r>
            <a:pPr algn="l" indent="0" marL="0">
              <a:lnSpc>
                <a:spcPct val="106000"/>
              </a:lnSpc>
              <a:buNone/>
            </a:pPr>
            <a:r>
              <a:rPr lang="en-US" sz="4500" b="1" spc="-99" kern="0" dirty="0">
                <a:solidFill>
                  <a:srgbClr val="14171C"/>
                </a:solidFill>
                <a:highlight>
                  <a:srgbClr val="A8E3A6"/>
                </a:highlight>
                <a:latin typeface="Arial" pitchFamily="34" charset="0"/>
                <a:ea typeface="Arial" pitchFamily="34" charset="-122"/>
                <a:cs typeface="Arial" pitchFamily="34" charset="-120"/>
              </a:rPr>
              <a:t>on one box</a:t>
            </a:r>
            <a:endParaRPr lang="en-US" sz="4500" dirty="0"/>
          </a:p>
        </p:txBody>
      </p:sp>
      <p:sp>
        <p:nvSpPr>
          <p:cNvPr id="6" name="Shape 4"/>
          <p:cNvSpPr/>
          <p:nvPr/>
        </p:nvSpPr>
        <p:spPr>
          <a:xfrm>
            <a:off x="800100" y="2425700"/>
            <a:ext cx="8153400" cy="4127500"/>
          </a:xfrm>
          <a:prstGeom prst="roundRect">
            <a:avLst>
              <a:gd name="adj" fmla="val 4154"/>
            </a:avLst>
          </a:prstGeom>
          <a:solidFill>
            <a:srgbClr val="D2F0E6"/>
          </a:solidFill>
          <a:ln w="19050">
            <a:solidFill>
              <a:srgbClr val="14171C"/>
            </a:solidFill>
            <a:prstDash val="solid"/>
          </a:ln>
          <a:effectLst>
            <a:outerShdw sx="100000" sy="100000" kx="0" ky="0" algn="bl" rotWithShape="0" blurRad="101600" dist="94293" dir="2700000">
              <a:srgbClr val="14171C">
                <a:alpha val="100000"/>
              </a:srgbClr>
            </a:outerShdw>
          </a:effectLst>
        </p:spPr>
      </p:sp>
      <p:sp>
        <p:nvSpPr>
          <p:cNvPr id="7" name="Text 5"/>
          <p:cNvSpPr/>
          <p:nvPr/>
        </p:nvSpPr>
        <p:spPr>
          <a:xfrm>
            <a:off x="1104900" y="3333750"/>
            <a:ext cx="7770114"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THE BRAIN</a:t>
            </a:r>
            <a:endParaRPr lang="en-US" sz="1500" dirty="0"/>
          </a:p>
        </p:txBody>
      </p:sp>
      <p:sp>
        <p:nvSpPr>
          <p:cNvPr id="8" name="Text 6"/>
          <p:cNvSpPr/>
          <p:nvPr/>
        </p:nvSpPr>
        <p:spPr>
          <a:xfrm>
            <a:off x="1104900" y="3676650"/>
            <a:ext cx="7770114" cy="457200"/>
          </a:xfrm>
          <a:prstGeom prst="rect">
            <a:avLst/>
          </a:prstGeom>
          <a:noFill/>
          <a:ln/>
        </p:spPr>
        <p:txBody>
          <a:bodyPr wrap="square" lIns="25400" tIns="25400" rIns="25400" bIns="25400" rtlCol="0" anchor="t">
            <a:normAutofit/>
          </a:bodyPr>
          <a:lstStyle/>
          <a:p>
            <a:pPr algn="l" indent="0" marL="0">
              <a:lnSpc>
                <a:spcPct val="106000"/>
              </a:lnSpc>
              <a:buNone/>
            </a:pPr>
            <a:r>
              <a:rPr lang="en-US" sz="3150" b="1" spc="-31" kern="0" dirty="0">
                <a:solidFill>
                  <a:srgbClr val="14171C"/>
                </a:solidFill>
                <a:latin typeface="Arial" pitchFamily="34" charset="0"/>
                <a:ea typeface="Arial" pitchFamily="34" charset="-122"/>
                <a:cs typeface="Arial" pitchFamily="34" charset="-120"/>
              </a:rPr>
              <a:t>Nemotron-3-Nano-30B-A3B</a:t>
            </a:r>
            <a:endParaRPr lang="en-US" sz="3150" dirty="0"/>
          </a:p>
        </p:txBody>
      </p:sp>
      <p:sp>
        <p:nvSpPr>
          <p:cNvPr id="9" name="Text 7"/>
          <p:cNvSpPr/>
          <p:nvPr/>
        </p:nvSpPr>
        <p:spPr>
          <a:xfrm>
            <a:off x="1104900" y="4210050"/>
            <a:ext cx="7770114" cy="74930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2A2F37"/>
                </a:solidFill>
                <a:latin typeface="Arial" pitchFamily="34" charset="0"/>
                <a:ea typeface="Arial" pitchFamily="34" charset="-122"/>
                <a:cs typeface="Arial" pitchFamily="34" charset="-120"/>
              </a:rPr>
              <a:t>NVFP4, tool-calling, served locally via </a:t>
            </a:r>
            <a:pPr algn="l" indent="0" marL="0">
              <a:lnSpc>
                <a:spcPct val="140000"/>
              </a:lnSpc>
              <a:buNone/>
            </a:pPr>
            <a:r>
              <a:rPr lang="en-US" sz="2025" b="1" dirty="0">
                <a:solidFill>
                  <a:srgbClr val="2A2F37"/>
                </a:solidFill>
                <a:latin typeface="Arial" pitchFamily="34" charset="0"/>
                <a:ea typeface="Arial" pitchFamily="34" charset="-122"/>
                <a:cs typeface="Arial" pitchFamily="34" charset="-120"/>
              </a:rPr>
              <a:t>vLLM </a:t>
            </a:r>
            <a:pPr algn="l" indent="0" marL="0">
              <a:lnSpc>
                <a:spcPct val="140000"/>
              </a:lnSpc>
              <a:buNone/>
            </a:pPr>
            <a:r>
              <a:rPr lang="en-US" sz="2025" dirty="0">
                <a:solidFill>
                  <a:srgbClr val="2A2F37"/>
                </a:solidFill>
                <a:latin typeface="Arial" pitchFamily="34" charset="0"/>
                <a:ea typeface="Arial" pitchFamily="34" charset="-122"/>
                <a:cs typeface="Arial" pitchFamily="34" charset="-120"/>
              </a:rPr>
              <a:t>on an OpenAI-compatible </a:t>
            </a:r>
            <a:pPr algn="l" indent="0" marL="0">
              <a:lnSpc>
                <a:spcPct val="140000"/>
              </a:lnSpc>
              <a:buNone/>
            </a:pPr>
            <a:r>
              <a:rPr lang="en-US" sz="1875" dirty="0">
                <a:solidFill>
                  <a:srgbClr val="14171C"/>
                </a:solidFill>
                <a:latin typeface="Courier New" pitchFamily="34" charset="0"/>
                <a:ea typeface="Courier New" pitchFamily="34" charset="-122"/>
                <a:cs typeface="Courier New" pitchFamily="34" charset="-120"/>
              </a:rPr>
              <a:t>/v1 </a:t>
            </a:r>
            <a:pPr algn="l" indent="0" marL="0">
              <a:lnSpc>
                <a:spcPct val="140000"/>
              </a:lnSpc>
              <a:buNone/>
            </a:pPr>
            <a:r>
              <a:rPr lang="en-US" sz="2025" dirty="0">
                <a:solidFill>
                  <a:srgbClr val="2A2F37"/>
                </a:solidFill>
                <a:latin typeface="Arial" pitchFamily="34" charset="0"/>
                <a:ea typeface="Arial" pitchFamily="34" charset="-122"/>
                <a:cs typeface="Arial" pitchFamily="34" charset="-120"/>
              </a:rPr>
              <a:t>endpoint.</a:t>
            </a:r>
            <a:endParaRPr lang="en-US" sz="2025" dirty="0"/>
          </a:p>
        </p:txBody>
      </p:sp>
      <p:sp>
        <p:nvSpPr>
          <p:cNvPr id="10" name="Shape 8"/>
          <p:cNvSpPr/>
          <p:nvPr/>
        </p:nvSpPr>
        <p:spPr>
          <a:xfrm>
            <a:off x="1104900" y="5130800"/>
            <a:ext cx="3097213" cy="514350"/>
          </a:xfrm>
          <a:prstGeom prst="roundRect">
            <a:avLst>
              <a:gd name="adj" fmla="val 50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11" name="Shape 9"/>
          <p:cNvSpPr/>
          <p:nvPr/>
        </p:nvSpPr>
        <p:spPr>
          <a:xfrm>
            <a:off x="1314450" y="5311775"/>
            <a:ext cx="152400" cy="152400"/>
          </a:xfrm>
          <a:prstGeom prst="roundRect">
            <a:avLst>
              <a:gd name="adj" fmla="val 25000"/>
            </a:avLst>
          </a:prstGeom>
          <a:solidFill>
            <a:srgbClr val="D2F0E6"/>
          </a:solidFill>
          <a:ln w="19050">
            <a:solidFill>
              <a:srgbClr val="14171C"/>
            </a:solidFill>
            <a:prstDash val="solid"/>
          </a:ln>
        </p:spPr>
      </p:sp>
      <p:sp>
        <p:nvSpPr>
          <p:cNvPr id="12" name="Text 10"/>
          <p:cNvSpPr/>
          <p:nvPr/>
        </p:nvSpPr>
        <p:spPr>
          <a:xfrm>
            <a:off x="1571625" y="5248275"/>
            <a:ext cx="2496979" cy="304800"/>
          </a:xfrm>
          <a:prstGeom prst="rect">
            <a:avLst/>
          </a:prstGeom>
          <a:noFill/>
          <a:ln/>
        </p:spPr>
        <p:txBody>
          <a:bodyPr wrap="square" lIns="0" tIns="0" rIns="0" bIns="0" rtlCol="0" anchor="t">
            <a:normAutofit/>
          </a:bodyPr>
          <a:lstStyle/>
          <a:p>
            <a:pPr algn="l" indent="0" marL="0">
              <a:lnSpc>
                <a:spcPct val="140000"/>
              </a:lnSpc>
              <a:buNone/>
            </a:pPr>
            <a:r>
              <a:rPr lang="en-US" sz="1725" b="1" dirty="0">
                <a:solidFill>
                  <a:srgbClr val="14171C"/>
                </a:solidFill>
                <a:latin typeface="Arial" pitchFamily="34" charset="0"/>
                <a:ea typeface="Arial" pitchFamily="34" charset="-122"/>
                <a:cs typeface="Arial" pitchFamily="34" charset="-120"/>
              </a:rPr>
              <a:t>~31 GB of 128 GB used</a:t>
            </a:r>
            <a:endParaRPr lang="en-US" sz="1725" dirty="0"/>
          </a:p>
        </p:txBody>
      </p:sp>
      <p:sp>
        <p:nvSpPr>
          <p:cNvPr id="13" name="Text 11"/>
          <p:cNvSpPr/>
          <p:nvPr/>
        </p:nvSpPr>
        <p:spPr>
          <a:xfrm>
            <a:off x="9334500" y="2425700"/>
            <a:ext cx="8398002" cy="368300"/>
          </a:xfrm>
          <a:prstGeom prst="rect">
            <a:avLst/>
          </a:prstGeom>
          <a:noFill/>
          <a:ln/>
        </p:spPr>
        <p:txBody>
          <a:bodyPr wrap="square" lIns="25400" tIns="25400" rIns="25400" bIns="25400" rtlCol="0" anchor="t">
            <a:normAutofit/>
          </a:bodyPr>
          <a:lstStyle/>
          <a:p>
            <a:pPr algn="l" indent="0" marL="0">
              <a:lnSpc>
                <a:spcPct val="140000"/>
              </a:lnSpc>
              <a:buNone/>
            </a:pPr>
            <a:r>
              <a:rPr lang="en-US" sz="1875" b="1" dirty="0">
                <a:solidFill>
                  <a:srgbClr val="14171C"/>
                </a:solidFill>
                <a:latin typeface="Arial" pitchFamily="34" charset="0"/>
                <a:ea typeface="Arial" pitchFamily="34" charset="-122"/>
                <a:cs typeface="Arial" pitchFamily="34" charset="-120"/>
              </a:rPr>
              <a:t>Plus a supporting cast, all on-device:</a:t>
            </a:r>
            <a:endParaRPr lang="en-US" sz="1875" dirty="0"/>
          </a:p>
        </p:txBody>
      </p:sp>
      <p:sp>
        <p:nvSpPr>
          <p:cNvPr id="14" name="Shape 12"/>
          <p:cNvSpPr/>
          <p:nvPr/>
        </p:nvSpPr>
        <p:spPr>
          <a:xfrm>
            <a:off x="9334500" y="2927350"/>
            <a:ext cx="8153400" cy="1111250"/>
          </a:xfrm>
          <a:prstGeom prst="roundRect">
            <a:avLst>
              <a:gd name="adj" fmla="val 15429"/>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5" name="Text 13"/>
          <p:cNvSpPr/>
          <p:nvPr/>
        </p:nvSpPr>
        <p:spPr>
          <a:xfrm>
            <a:off x="9601200" y="3136900"/>
            <a:ext cx="1282303" cy="304800"/>
          </a:xfrm>
          <a:prstGeom prst="rect">
            <a:avLst/>
          </a:prstGeom>
          <a:noFill/>
          <a:ln/>
        </p:spPr>
        <p:txBody>
          <a:bodyPr wrap="square" lIns="25400" tIns="25400" rIns="25400" bIns="25400" rtlCol="0" anchor="t">
            <a:normAutofit/>
          </a:bodyPr>
          <a:lstStyle/>
          <a:p>
            <a:pPr algn="l" indent="0" marL="0">
              <a:lnSpc>
                <a:spcPct val="112000"/>
              </a:lnSpc>
              <a:buNone/>
            </a:pPr>
            <a:r>
              <a:rPr lang="en-US" sz="1950" b="1" spc="-19" kern="0" dirty="0">
                <a:solidFill>
                  <a:srgbClr val="14171C"/>
                </a:solidFill>
                <a:latin typeface="Arial" pitchFamily="34" charset="0"/>
                <a:ea typeface="Arial" pitchFamily="34" charset="-122"/>
                <a:cs typeface="Arial" pitchFamily="34" charset="-120"/>
              </a:rPr>
              <a:t>embed-1b</a:t>
            </a:r>
            <a:endParaRPr lang="en-US" sz="1950" dirty="0"/>
          </a:p>
        </p:txBody>
      </p:sp>
      <p:sp>
        <p:nvSpPr>
          <p:cNvPr id="16" name="Text 14"/>
          <p:cNvSpPr/>
          <p:nvPr/>
        </p:nvSpPr>
        <p:spPr>
          <a:xfrm>
            <a:off x="16089313" y="3187700"/>
            <a:ext cx="120808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RETRIEVAL</a:t>
            </a:r>
            <a:endParaRPr lang="en-US" sz="1500" dirty="0"/>
          </a:p>
        </p:txBody>
      </p:sp>
      <p:sp>
        <p:nvSpPr>
          <p:cNvPr id="17" name="Text 15"/>
          <p:cNvSpPr/>
          <p:nvPr/>
        </p:nvSpPr>
        <p:spPr>
          <a:xfrm>
            <a:off x="9601200" y="3511550"/>
            <a:ext cx="7848600" cy="355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Embeds civic data for grounded RAG lookups.</a:t>
            </a:r>
            <a:endParaRPr lang="en-US" sz="1800" dirty="0"/>
          </a:p>
        </p:txBody>
      </p:sp>
      <p:sp>
        <p:nvSpPr>
          <p:cNvPr id="18" name="Shape 16"/>
          <p:cNvSpPr/>
          <p:nvPr/>
        </p:nvSpPr>
        <p:spPr>
          <a:xfrm>
            <a:off x="9334500" y="4210050"/>
            <a:ext cx="8153400" cy="1111250"/>
          </a:xfrm>
          <a:prstGeom prst="roundRect">
            <a:avLst>
              <a:gd name="adj" fmla="val 15429"/>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9" name="Text 17"/>
          <p:cNvSpPr/>
          <p:nvPr/>
        </p:nvSpPr>
        <p:spPr>
          <a:xfrm>
            <a:off x="9601200" y="4419600"/>
            <a:ext cx="1248767" cy="304800"/>
          </a:xfrm>
          <a:prstGeom prst="rect">
            <a:avLst/>
          </a:prstGeom>
          <a:noFill/>
          <a:ln/>
        </p:spPr>
        <p:txBody>
          <a:bodyPr wrap="square" lIns="25400" tIns="25400" rIns="25400" bIns="25400" rtlCol="0" anchor="t">
            <a:normAutofit/>
          </a:bodyPr>
          <a:lstStyle/>
          <a:p>
            <a:pPr algn="l" indent="0" marL="0">
              <a:lnSpc>
                <a:spcPct val="112000"/>
              </a:lnSpc>
              <a:buNone/>
            </a:pPr>
            <a:r>
              <a:rPr lang="en-US" sz="1950" b="1" spc="-19" kern="0" dirty="0">
                <a:solidFill>
                  <a:srgbClr val="14171C"/>
                </a:solidFill>
                <a:latin typeface="Arial" pitchFamily="34" charset="0"/>
                <a:ea typeface="Arial" pitchFamily="34" charset="-122"/>
                <a:cs typeface="Arial" pitchFamily="34" charset="-120"/>
              </a:rPr>
              <a:t>rerank-1b</a:t>
            </a:r>
            <a:endParaRPr lang="en-US" sz="1950" dirty="0"/>
          </a:p>
        </p:txBody>
      </p:sp>
      <p:sp>
        <p:nvSpPr>
          <p:cNvPr id="20" name="Text 18"/>
          <p:cNvSpPr/>
          <p:nvPr/>
        </p:nvSpPr>
        <p:spPr>
          <a:xfrm>
            <a:off x="16089313" y="4470400"/>
            <a:ext cx="120808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PRECISION</a:t>
            </a:r>
            <a:endParaRPr lang="en-US" sz="1500" dirty="0"/>
          </a:p>
        </p:txBody>
      </p:sp>
      <p:sp>
        <p:nvSpPr>
          <p:cNvPr id="21" name="Text 19"/>
          <p:cNvSpPr/>
          <p:nvPr/>
        </p:nvSpPr>
        <p:spPr>
          <a:xfrm>
            <a:off x="9601200" y="4794250"/>
            <a:ext cx="7848600" cy="355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Reranks candidates so the right place wins.</a:t>
            </a:r>
            <a:endParaRPr lang="en-US" sz="1800" dirty="0"/>
          </a:p>
        </p:txBody>
      </p:sp>
      <p:sp>
        <p:nvSpPr>
          <p:cNvPr id="22" name="Shape 20"/>
          <p:cNvSpPr/>
          <p:nvPr/>
        </p:nvSpPr>
        <p:spPr>
          <a:xfrm>
            <a:off x="9334500" y="5492750"/>
            <a:ext cx="8153400" cy="1060450"/>
          </a:xfrm>
          <a:prstGeom prst="roundRect">
            <a:avLst>
              <a:gd name="adj" fmla="val 16168"/>
            </a:avLst>
          </a:prstGeom>
          <a:solidFill>
            <a:srgbClr val="FFFFFF"/>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23" name="Text 21"/>
          <p:cNvSpPr/>
          <p:nvPr/>
        </p:nvSpPr>
        <p:spPr>
          <a:xfrm>
            <a:off x="9601200" y="5702300"/>
            <a:ext cx="1798042" cy="254000"/>
          </a:xfrm>
          <a:prstGeom prst="rect">
            <a:avLst/>
          </a:prstGeom>
          <a:noFill/>
          <a:ln/>
        </p:spPr>
        <p:txBody>
          <a:bodyPr wrap="square" lIns="25400" tIns="25400" rIns="25400" bIns="25400" rtlCol="0" anchor="t">
            <a:normAutofit/>
          </a:bodyPr>
          <a:lstStyle/>
          <a:p>
            <a:pPr algn="l" indent="0" marL="0">
              <a:lnSpc>
                <a:spcPct val="112000"/>
              </a:lnSpc>
              <a:buNone/>
            </a:pPr>
            <a:r>
              <a:rPr lang="en-US" sz="1575" b="1" spc="-16" kern="0" dirty="0">
                <a:solidFill>
                  <a:srgbClr val="14171C"/>
                </a:solidFill>
                <a:latin typeface="Arial" pitchFamily="34" charset="0"/>
                <a:ea typeface="Arial" pitchFamily="34" charset="-122"/>
                <a:cs typeface="Arial" pitchFamily="34" charset="-120"/>
              </a:rPr>
              <a:t>content-safety-4b</a:t>
            </a:r>
            <a:endParaRPr lang="en-US" sz="1575" dirty="0"/>
          </a:p>
        </p:txBody>
      </p:sp>
      <p:sp>
        <p:nvSpPr>
          <p:cNvPr id="24" name="Text 22"/>
          <p:cNvSpPr/>
          <p:nvPr/>
        </p:nvSpPr>
        <p:spPr>
          <a:xfrm>
            <a:off x="16592352" y="5702300"/>
            <a:ext cx="705048"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GUARD</a:t>
            </a:r>
            <a:endParaRPr lang="en-US" sz="1500" dirty="0"/>
          </a:p>
        </p:txBody>
      </p:sp>
      <p:sp>
        <p:nvSpPr>
          <p:cNvPr id="25" name="Text 23"/>
          <p:cNvSpPr/>
          <p:nvPr/>
        </p:nvSpPr>
        <p:spPr>
          <a:xfrm>
            <a:off x="9601200" y="6026150"/>
            <a:ext cx="7848600" cy="355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Screens inputs and outputs as a safety guard.</a:t>
            </a:r>
            <a:endParaRPr lang="en-US" sz="1800" dirty="0"/>
          </a:p>
        </p:txBody>
      </p:sp>
      <p:sp>
        <p:nvSpPr>
          <p:cNvPr id="26" name="Shape 24"/>
          <p:cNvSpPr/>
          <p:nvPr/>
        </p:nvSpPr>
        <p:spPr>
          <a:xfrm>
            <a:off x="800100" y="6800850"/>
            <a:ext cx="16687800" cy="1219200"/>
          </a:xfrm>
          <a:prstGeom prst="roundRect">
            <a:avLst>
              <a:gd name="adj" fmla="val 14063"/>
            </a:avLst>
          </a:prstGeom>
          <a:solidFill>
            <a:srgbClr val="C8EFC7"/>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27" name="Text 25"/>
          <p:cNvSpPr/>
          <p:nvPr/>
        </p:nvSpPr>
        <p:spPr>
          <a:xfrm>
            <a:off x="1104900" y="7067550"/>
            <a:ext cx="16560546" cy="72390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4171C"/>
                </a:solidFill>
                <a:latin typeface="Arial" pitchFamily="34" charset="0"/>
                <a:ea typeface="Arial" pitchFamily="34" charset="-122"/>
                <a:cs typeface="Arial" pitchFamily="34" charset="-120"/>
              </a:rPr>
              <a:t>Breadth is the point. Four Nemotron models cooperating on a single GB10 (reasoning, retrieval, reranking and safety) is our case for the Nemotron bounty.</a:t>
            </a:r>
            <a:endParaRPr lang="en-US" sz="1950" dirty="0"/>
          </a:p>
        </p:txBody>
      </p:sp>
      <p:sp>
        <p:nvSpPr>
          <p:cNvPr id="28" name="Text 26"/>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29" name="Text 27"/>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09 / 12</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10</a:t>
            </a:r>
            <a:endParaRPr lang="en-US" sz="2100" dirty="0"/>
          </a:p>
        </p:txBody>
      </p:sp>
      <p:sp>
        <p:nvSpPr>
          <p:cNvPr id="4" name="Text 2"/>
          <p:cNvSpPr/>
          <p:nvPr/>
        </p:nvSpPr>
        <p:spPr>
          <a:xfrm>
            <a:off x="1752600" y="784225"/>
            <a:ext cx="2560241"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the persistence bounty</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It remembers what you asked </a:t>
            </a:r>
            <a:pPr algn="l" indent="0" marL="0">
              <a:lnSpc>
                <a:spcPct val="106000"/>
              </a:lnSpc>
              <a:buNone/>
            </a:pPr>
            <a:r>
              <a:rPr lang="en-US" sz="4500" b="1" spc="-99" kern="0" dirty="0">
                <a:solidFill>
                  <a:srgbClr val="14171C"/>
                </a:solidFill>
                <a:highlight>
                  <a:srgbClr val="FFBF8C"/>
                </a:highlight>
                <a:latin typeface="Arial" pitchFamily="34" charset="0"/>
                <a:ea typeface="Arial" pitchFamily="34" charset="-122"/>
                <a:cs typeface="Arial" pitchFamily="34" charset="-120"/>
              </a:rPr>
              <a:t>40 minutes ago</a:t>
            </a:r>
            <a:endParaRPr lang="en-US" sz="4500" dirty="0"/>
          </a:p>
        </p:txBody>
      </p:sp>
      <p:sp>
        <p:nvSpPr>
          <p:cNvPr id="6" name="Text 4"/>
          <p:cNvSpPr/>
          <p:nvPr/>
        </p:nvSpPr>
        <p:spPr>
          <a:xfrm>
            <a:off x="800100" y="2584450"/>
            <a:ext cx="7662809"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SINGLE SESSION LENGTH</a:t>
            </a:r>
            <a:endParaRPr lang="en-US" sz="1500" dirty="0"/>
          </a:p>
        </p:txBody>
      </p:sp>
      <p:sp>
        <p:nvSpPr>
          <p:cNvPr id="7" name="Text 5"/>
          <p:cNvSpPr/>
          <p:nvPr/>
        </p:nvSpPr>
        <p:spPr>
          <a:xfrm>
            <a:off x="800100" y="2927350"/>
            <a:ext cx="7662809" cy="1638300"/>
          </a:xfrm>
          <a:prstGeom prst="rect">
            <a:avLst/>
          </a:prstGeom>
          <a:noFill/>
          <a:ln/>
        </p:spPr>
        <p:txBody>
          <a:bodyPr wrap="square" lIns="25400" tIns="25400" rIns="25400" bIns="25400" rtlCol="0" anchor="t">
            <a:normAutofit/>
          </a:bodyPr>
          <a:lstStyle/>
          <a:p>
            <a:pPr algn="l" indent="0" marL="0">
              <a:lnSpc>
                <a:spcPct val="84000"/>
              </a:lnSpc>
              <a:buNone/>
            </a:pPr>
            <a:r>
              <a:rPr lang="en-US" sz="15000" b="1" spc="-600" kern="0" dirty="0">
                <a:solidFill>
                  <a:srgbClr val="14171C"/>
                </a:solidFill>
                <a:latin typeface="Arial" pitchFamily="34" charset="0"/>
                <a:ea typeface="Arial" pitchFamily="34" charset="-122"/>
                <a:cs typeface="Arial" pitchFamily="34" charset="-120"/>
              </a:rPr>
              <a:t>1</a:t>
            </a:r>
            <a:pPr algn="l" indent="0" marL="0">
              <a:lnSpc>
                <a:spcPct val="84000"/>
              </a:lnSpc>
              <a:buNone/>
            </a:pPr>
            <a:r>
              <a:rPr lang="en-US" sz="6750" b="1" spc="-600" kern="0" dirty="0">
                <a:solidFill>
                  <a:srgbClr val="6B6E76"/>
                </a:solidFill>
                <a:latin typeface="Arial" pitchFamily="34" charset="0"/>
                <a:ea typeface="Arial" pitchFamily="34" charset="-122"/>
                <a:cs typeface="Arial" pitchFamily="34" charset="-120"/>
              </a:rPr>
              <a:t>h </a:t>
            </a:r>
            <a:pPr algn="l" indent="0" marL="0">
              <a:lnSpc>
                <a:spcPct val="84000"/>
              </a:lnSpc>
              <a:buNone/>
            </a:pPr>
            <a:r>
              <a:rPr lang="en-US" sz="15000" b="1" spc="-600" kern="0" dirty="0">
                <a:solidFill>
                  <a:srgbClr val="14171C"/>
                </a:solidFill>
                <a:latin typeface="Arial" pitchFamily="34" charset="0"/>
                <a:ea typeface="Arial" pitchFamily="34" charset="-122"/>
                <a:cs typeface="Arial" pitchFamily="34" charset="-120"/>
              </a:rPr>
              <a:t>11</a:t>
            </a:r>
            <a:pPr algn="l" indent="0" marL="0">
              <a:lnSpc>
                <a:spcPct val="84000"/>
              </a:lnSpc>
              <a:buNone/>
            </a:pPr>
            <a:r>
              <a:rPr lang="en-US" sz="6750" b="1" spc="-600" kern="0" dirty="0">
                <a:solidFill>
                  <a:srgbClr val="6B6E76"/>
                </a:solidFill>
                <a:latin typeface="Arial" pitchFamily="34" charset="0"/>
                <a:ea typeface="Arial" pitchFamily="34" charset="-122"/>
                <a:cs typeface="Arial" pitchFamily="34" charset="-120"/>
              </a:rPr>
              <a:t>m</a:t>
            </a:r>
            <a:endParaRPr lang="en-US" sz="15000" dirty="0"/>
          </a:p>
        </p:txBody>
      </p:sp>
      <p:sp>
        <p:nvSpPr>
          <p:cNvPr id="8" name="Shape 6"/>
          <p:cNvSpPr/>
          <p:nvPr/>
        </p:nvSpPr>
        <p:spPr>
          <a:xfrm>
            <a:off x="800100" y="4775200"/>
            <a:ext cx="7439620" cy="1193800"/>
          </a:xfrm>
          <a:prstGeom prst="roundRect">
            <a:avLst>
              <a:gd name="adj" fmla="val 14362"/>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9" name="Text 7"/>
          <p:cNvSpPr/>
          <p:nvPr/>
        </p:nvSpPr>
        <p:spPr>
          <a:xfrm>
            <a:off x="1104900" y="5041900"/>
            <a:ext cx="7034921" cy="698500"/>
          </a:xfrm>
          <a:prstGeom prst="rect">
            <a:avLst/>
          </a:prstGeom>
          <a:noFill/>
          <a:ln/>
        </p:spPr>
        <p:txBody>
          <a:bodyPr wrap="square" lIns="25400" tIns="25400" rIns="25400" bIns="25400" rtlCol="0" anchor="t">
            <a:normAutofit/>
          </a:bodyPr>
          <a:lstStyle/>
          <a:p>
            <a:pPr algn="l" indent="0" marL="0">
              <a:lnSpc>
                <a:spcPct val="140000"/>
              </a:lnSpc>
              <a:buNone/>
            </a:pPr>
            <a:r>
              <a:rPr lang="en-US" sz="1875" b="1" dirty="0">
                <a:solidFill>
                  <a:srgbClr val="14171C"/>
                </a:solidFill>
                <a:latin typeface="Arial" pitchFamily="34" charset="0"/>
                <a:ea typeface="Arial" pitchFamily="34" charset="-122"/>
                <a:cs typeface="Arial" pitchFamily="34" charset="-120"/>
              </a:rPr>
              <a:t>One long-lived session, persisted to disk, recalling earlier turns across the whole conversation.</a:t>
            </a:r>
            <a:endParaRPr lang="en-US" sz="1875" dirty="0"/>
          </a:p>
        </p:txBody>
      </p:sp>
      <p:sp>
        <p:nvSpPr>
          <p:cNvPr id="10" name="Shape 8"/>
          <p:cNvSpPr/>
          <p:nvPr/>
        </p:nvSpPr>
        <p:spPr>
          <a:xfrm>
            <a:off x="8754070" y="2387600"/>
            <a:ext cx="8733830" cy="1625600"/>
          </a:xfrm>
          <a:prstGeom prst="roundRect">
            <a:avLst>
              <a:gd name="adj" fmla="val 10547"/>
            </a:avLst>
          </a:prstGeom>
          <a:solidFill>
            <a:srgbClr val="FFD3A8"/>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1" name="Text 9"/>
          <p:cNvSpPr/>
          <p:nvPr/>
        </p:nvSpPr>
        <p:spPr>
          <a:xfrm>
            <a:off x="9058870" y="2654300"/>
            <a:ext cx="836795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VOICE IN / OUT</a:t>
            </a:r>
            <a:endParaRPr lang="en-US" sz="1500" dirty="0"/>
          </a:p>
        </p:txBody>
      </p:sp>
      <p:sp>
        <p:nvSpPr>
          <p:cNvPr id="12" name="Text 10"/>
          <p:cNvSpPr/>
          <p:nvPr/>
        </p:nvSpPr>
        <p:spPr>
          <a:xfrm>
            <a:off x="9058870" y="2997200"/>
            <a:ext cx="8367957"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Scribe v2 STT · Eleven v3 TTS</a:t>
            </a:r>
            <a:endParaRPr lang="en-US" sz="2250" dirty="0"/>
          </a:p>
        </p:txBody>
      </p:sp>
      <p:sp>
        <p:nvSpPr>
          <p:cNvPr id="13" name="Text 11"/>
          <p:cNvSpPr/>
          <p:nvPr/>
        </p:nvSpPr>
        <p:spPr>
          <a:xfrm>
            <a:off x="9058870" y="3429000"/>
            <a:ext cx="8367957" cy="355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Talk mode with natural turn-taking and barge-in. Interrupt it and it listens.</a:t>
            </a:r>
            <a:endParaRPr lang="en-US" sz="1800" dirty="0"/>
          </a:p>
        </p:txBody>
      </p:sp>
      <p:sp>
        <p:nvSpPr>
          <p:cNvPr id="14" name="Shape 12"/>
          <p:cNvSpPr/>
          <p:nvPr/>
        </p:nvSpPr>
        <p:spPr>
          <a:xfrm>
            <a:off x="8754070" y="4222750"/>
            <a:ext cx="8733830" cy="1943100"/>
          </a:xfrm>
          <a:prstGeom prst="roundRect">
            <a:avLst>
              <a:gd name="adj" fmla="val 8824"/>
            </a:avLst>
          </a:prstGeom>
          <a:solidFill>
            <a:srgbClr val="D5E6FA"/>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5" name="Text 13"/>
          <p:cNvSpPr/>
          <p:nvPr/>
        </p:nvSpPr>
        <p:spPr>
          <a:xfrm>
            <a:off x="9058870" y="4489450"/>
            <a:ext cx="836795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PERSISTENCE</a:t>
            </a:r>
            <a:endParaRPr lang="en-US" sz="1500" dirty="0"/>
          </a:p>
        </p:txBody>
      </p:sp>
      <p:sp>
        <p:nvSpPr>
          <p:cNvPr id="16" name="Text 14"/>
          <p:cNvSpPr/>
          <p:nvPr/>
        </p:nvSpPr>
        <p:spPr>
          <a:xfrm>
            <a:off x="9058870" y="4832350"/>
            <a:ext cx="8367957" cy="3556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The "what did I ask earlier?" moment just works</a:t>
            </a:r>
            <a:endParaRPr lang="en-US" sz="2250" dirty="0"/>
          </a:p>
        </p:txBody>
      </p:sp>
      <p:sp>
        <p:nvSpPr>
          <p:cNvPr id="17" name="Text 15"/>
          <p:cNvSpPr/>
          <p:nvPr/>
        </p:nvSpPr>
        <p:spPr>
          <a:xfrm>
            <a:off x="9058870" y="5264150"/>
            <a:ext cx="8367957" cy="6731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The session recalls your situation across ≥ 1 h 11 m. No re-stating, no re-uploading. Our case for the persistence bounty.</a:t>
            </a:r>
            <a:endParaRPr lang="en-US" sz="1800" dirty="0"/>
          </a:p>
        </p:txBody>
      </p:sp>
      <p:sp>
        <p:nvSpPr>
          <p:cNvPr id="18" name="Text 16"/>
          <p:cNvSpPr/>
          <p:nvPr/>
        </p:nvSpPr>
        <p:spPr>
          <a:xfrm>
            <a:off x="800100" y="9709150"/>
            <a:ext cx="164405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132" kern="0" dirty="0">
                <a:solidFill>
                  <a:srgbClr val="6B6E76"/>
                </a:solidFill>
                <a:latin typeface="Courier New" pitchFamily="34" charset="0"/>
                <a:ea typeface="Courier New" pitchFamily="34" charset="-122"/>
                <a:cs typeface="Courier New" pitchFamily="34" charset="-120"/>
              </a:rPr>
              <a:t>codeborough</a:t>
            </a:r>
            <a:endParaRPr lang="en-US" sz="1650" dirty="0"/>
          </a:p>
        </p:txBody>
      </p:sp>
      <p:sp>
        <p:nvSpPr>
          <p:cNvPr id="19" name="Text 17"/>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10 / 12</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11</a:t>
            </a:r>
            <a:endParaRPr lang="en-US" sz="2100" dirty="0"/>
          </a:p>
        </p:txBody>
      </p:sp>
      <p:sp>
        <p:nvSpPr>
          <p:cNvPr id="4" name="Text 2"/>
          <p:cNvSpPr/>
          <p:nvPr/>
        </p:nvSpPr>
        <p:spPr>
          <a:xfrm>
            <a:off x="1752600" y="784225"/>
            <a:ext cx="2567583"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the three-minute demo</a:t>
            </a:r>
            <a:endParaRPr lang="en-US" sz="2550" dirty="0"/>
          </a:p>
        </p:txBody>
      </p:sp>
      <p:sp>
        <p:nvSpPr>
          <p:cNvPr id="5" name="Text 3"/>
          <p:cNvSpPr/>
          <p:nvPr/>
        </p:nvSpPr>
        <p:spPr>
          <a:xfrm>
            <a:off x="800100" y="1447800"/>
            <a:ext cx="16089630" cy="635000"/>
          </a:xfrm>
          <a:prstGeom prst="rect">
            <a:avLst/>
          </a:prstGeom>
          <a:noFill/>
          <a:ln/>
        </p:spPr>
        <p:txBody>
          <a:bodyPr wrap="square" lIns="25400" tIns="25400" rIns="25400" bIns="25400" rtlCol="0" anchor="t">
            <a:normAutofit/>
          </a:bodyPr>
          <a:lstStyle/>
          <a:p>
            <a:pPr algn="l" indent="0" marL="0">
              <a:lnSpc>
                <a:spcPct val="106000"/>
              </a:lnSpc>
              <a:buNone/>
            </a:pPr>
            <a:r>
              <a:rPr lang="en-US" sz="4500" b="1" spc="-99" kern="0" dirty="0">
                <a:solidFill>
                  <a:srgbClr val="14171C"/>
                </a:solidFill>
                <a:latin typeface="Arial" pitchFamily="34" charset="0"/>
                <a:ea typeface="Arial" pitchFamily="34" charset="-122"/>
                <a:cs typeface="Arial" pitchFamily="34" charset="-120"/>
              </a:rPr>
              <a:t>One family, one conversation, start to finish</a:t>
            </a:r>
            <a:endParaRPr lang="en-US" sz="4500" dirty="0"/>
          </a:p>
        </p:txBody>
      </p:sp>
      <p:sp>
        <p:nvSpPr>
          <p:cNvPr id="6" name="Shape 4"/>
          <p:cNvSpPr/>
          <p:nvPr/>
        </p:nvSpPr>
        <p:spPr>
          <a:xfrm>
            <a:off x="800100" y="2368550"/>
            <a:ext cx="16687800" cy="1479550"/>
          </a:xfrm>
          <a:prstGeom prst="roundRect">
            <a:avLst>
              <a:gd name="adj" fmla="val 11588"/>
            </a:avLst>
          </a:prstGeom>
          <a:solidFill>
            <a:srgbClr val="D5E6FA"/>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7" name="Shape 5"/>
          <p:cNvSpPr/>
          <p:nvPr/>
        </p:nvSpPr>
        <p:spPr>
          <a:xfrm>
            <a:off x="1085850" y="2597150"/>
            <a:ext cx="571500" cy="571500"/>
          </a:xfrm>
          <a:prstGeom prst="ellipse">
            <a:avLst/>
          </a:prstGeom>
          <a:solidFill>
            <a:srgbClr val="14171C"/>
          </a:solidFill>
          <a:ln/>
        </p:spPr>
      </p:sp>
      <p:sp>
        <p:nvSpPr>
          <p:cNvPr id="8" name="Text 6"/>
          <p:cNvSpPr/>
          <p:nvPr/>
        </p:nvSpPr>
        <p:spPr>
          <a:xfrm>
            <a:off x="1047750" y="2597150"/>
            <a:ext cx="647700" cy="60960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FDF6E3"/>
                </a:solidFill>
                <a:latin typeface="Arial" pitchFamily="34" charset="0"/>
                <a:ea typeface="Arial" pitchFamily="34" charset="-122"/>
                <a:cs typeface="Arial" pitchFamily="34" charset="-120"/>
              </a:rPr>
              <a:t>1</a:t>
            </a:r>
            <a:endParaRPr lang="en-US" sz="2100" dirty="0"/>
          </a:p>
        </p:txBody>
      </p:sp>
      <p:sp>
        <p:nvSpPr>
          <p:cNvPr id="9" name="Text 7"/>
          <p:cNvSpPr/>
          <p:nvPr/>
        </p:nvSpPr>
        <p:spPr>
          <a:xfrm>
            <a:off x="1885950" y="2597150"/>
            <a:ext cx="1577568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THE FAMILY LEAD</a:t>
            </a:r>
            <a:endParaRPr lang="en-US" sz="1500" dirty="0"/>
          </a:p>
        </p:txBody>
      </p:sp>
      <p:sp>
        <p:nvSpPr>
          <p:cNvPr id="10" name="Text 8"/>
          <p:cNvSpPr/>
          <p:nvPr/>
        </p:nvSpPr>
        <p:spPr>
          <a:xfrm>
            <a:off x="1885950" y="2921000"/>
            <a:ext cx="15775686" cy="342900"/>
          </a:xfrm>
          <a:prstGeom prst="rect">
            <a:avLst/>
          </a:prstGeom>
          <a:noFill/>
          <a:ln/>
        </p:spPr>
        <p:txBody>
          <a:bodyPr wrap="square" lIns="25400" tIns="25400" rIns="25400" bIns="25400" rtlCol="0" anchor="t">
            <a:normAutofit/>
          </a:bodyPr>
          <a:lstStyle/>
          <a:p>
            <a:pPr algn="l" indent="0" marL="0">
              <a:lnSpc>
                <a:spcPct val="128000"/>
              </a:lnSpc>
              <a:buNone/>
            </a:pPr>
            <a:r>
              <a:rPr lang="en-US" sz="1875" b="1" dirty="0">
                <a:solidFill>
                  <a:srgbClr val="14171C"/>
                </a:solidFill>
                <a:latin typeface="Arial" pitchFamily="34" charset="0"/>
                <a:ea typeface="Arial" pitchFamily="34" charset="-122"/>
                <a:cs typeface="Arial" pitchFamily="34" charset="-120"/>
              </a:rPr>
              <a:t>"We just moved to Brixton. Where's the nearest primary school, and a safe walk there?"</a:t>
            </a:r>
            <a:endParaRPr lang="en-US" sz="1875" dirty="0"/>
          </a:p>
        </p:txBody>
      </p:sp>
      <p:sp>
        <p:nvSpPr>
          <p:cNvPr id="11" name="Text 9"/>
          <p:cNvSpPr/>
          <p:nvPr/>
        </p:nvSpPr>
        <p:spPr>
          <a:xfrm>
            <a:off x="1885950" y="3302000"/>
            <a:ext cx="15775686" cy="355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 Finds the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nearest school</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 plots a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safe route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over monitored streets, reports the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camera count</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 and flags an accessible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toilet en route</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800100" y="4019550"/>
            <a:ext cx="16687800" cy="1479550"/>
          </a:xfrm>
          <a:prstGeom prst="roundRect">
            <a:avLst>
              <a:gd name="adj" fmla="val 11588"/>
            </a:avLst>
          </a:prstGeom>
          <a:solidFill>
            <a:srgbClr val="E6DFFD"/>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3" name="Shape 11"/>
          <p:cNvSpPr/>
          <p:nvPr/>
        </p:nvSpPr>
        <p:spPr>
          <a:xfrm>
            <a:off x="1085850" y="4248150"/>
            <a:ext cx="571500" cy="571500"/>
          </a:xfrm>
          <a:prstGeom prst="ellipse">
            <a:avLst/>
          </a:prstGeom>
          <a:solidFill>
            <a:srgbClr val="14171C"/>
          </a:solidFill>
          <a:ln/>
        </p:spPr>
      </p:sp>
      <p:sp>
        <p:nvSpPr>
          <p:cNvPr id="14" name="Text 12"/>
          <p:cNvSpPr/>
          <p:nvPr/>
        </p:nvSpPr>
        <p:spPr>
          <a:xfrm>
            <a:off x="1047750" y="4248150"/>
            <a:ext cx="647700" cy="60960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FDF6E3"/>
                </a:solidFill>
                <a:latin typeface="Arial" pitchFamily="34" charset="0"/>
                <a:ea typeface="Arial" pitchFamily="34" charset="-122"/>
                <a:cs typeface="Arial" pitchFamily="34" charset="-120"/>
              </a:rPr>
              <a:t>2</a:t>
            </a:r>
            <a:endParaRPr lang="en-US" sz="2100" dirty="0"/>
          </a:p>
        </p:txBody>
      </p:sp>
      <p:sp>
        <p:nvSpPr>
          <p:cNvPr id="15" name="Text 13"/>
          <p:cNvSpPr/>
          <p:nvPr/>
        </p:nvSpPr>
        <p:spPr>
          <a:xfrm>
            <a:off x="1885950" y="4248150"/>
            <a:ext cx="1577568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ELDERLY &amp; VOTING · ~30S</a:t>
            </a:r>
            <a:endParaRPr lang="en-US" sz="1500" dirty="0"/>
          </a:p>
        </p:txBody>
      </p:sp>
      <p:sp>
        <p:nvSpPr>
          <p:cNvPr id="16" name="Text 14"/>
          <p:cNvSpPr/>
          <p:nvPr/>
        </p:nvSpPr>
        <p:spPr>
          <a:xfrm>
            <a:off x="1885950" y="4572000"/>
            <a:ext cx="15775686" cy="342900"/>
          </a:xfrm>
          <a:prstGeom prst="rect">
            <a:avLst/>
          </a:prstGeom>
          <a:noFill/>
          <a:ln/>
        </p:spPr>
        <p:txBody>
          <a:bodyPr wrap="square" lIns="25400" tIns="25400" rIns="25400" bIns="25400" rtlCol="0" anchor="t">
            <a:normAutofit/>
          </a:bodyPr>
          <a:lstStyle/>
          <a:p>
            <a:pPr algn="l" indent="0" marL="0">
              <a:lnSpc>
                <a:spcPct val="128000"/>
              </a:lnSpc>
              <a:buNone/>
            </a:pPr>
            <a:r>
              <a:rPr lang="en-US" sz="1875" b="1" dirty="0">
                <a:solidFill>
                  <a:srgbClr val="14171C"/>
                </a:solidFill>
                <a:latin typeface="Arial" pitchFamily="34" charset="0"/>
                <a:ea typeface="Arial" pitchFamily="34" charset="-122"/>
                <a:cs typeface="Arial" pitchFamily="34" charset="-120"/>
              </a:rPr>
              <a:t>"Where's my nearest polling station, and can I get there step-free?"</a:t>
            </a:r>
            <a:endParaRPr lang="en-US" sz="1875" dirty="0"/>
          </a:p>
        </p:txBody>
      </p:sp>
      <p:sp>
        <p:nvSpPr>
          <p:cNvPr id="17" name="Text 15"/>
          <p:cNvSpPr/>
          <p:nvPr/>
        </p:nvSpPr>
        <p:spPr>
          <a:xfrm>
            <a:off x="1885950" y="4953000"/>
            <a:ext cx="15775686" cy="355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 Returns the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nearest polling station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with a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step-free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route. A second persona, same agent.</a:t>
            </a:r>
            <a:endParaRPr lang="en-US" sz="1800" dirty="0"/>
          </a:p>
        </p:txBody>
      </p:sp>
      <p:sp>
        <p:nvSpPr>
          <p:cNvPr id="18" name="Shape 16"/>
          <p:cNvSpPr/>
          <p:nvPr/>
        </p:nvSpPr>
        <p:spPr>
          <a:xfrm>
            <a:off x="800100" y="5670550"/>
            <a:ext cx="16687800" cy="1479550"/>
          </a:xfrm>
          <a:prstGeom prst="roundRect">
            <a:avLst>
              <a:gd name="adj" fmla="val 11588"/>
            </a:avLst>
          </a:prstGeom>
          <a:solidFill>
            <a:srgbClr val="FFD3A8"/>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9" name="Shape 17"/>
          <p:cNvSpPr/>
          <p:nvPr/>
        </p:nvSpPr>
        <p:spPr>
          <a:xfrm>
            <a:off x="1085850" y="5899150"/>
            <a:ext cx="571500" cy="571500"/>
          </a:xfrm>
          <a:prstGeom prst="ellipse">
            <a:avLst/>
          </a:prstGeom>
          <a:solidFill>
            <a:srgbClr val="14171C"/>
          </a:solidFill>
          <a:ln/>
        </p:spPr>
      </p:sp>
      <p:sp>
        <p:nvSpPr>
          <p:cNvPr id="20" name="Text 18"/>
          <p:cNvSpPr/>
          <p:nvPr/>
        </p:nvSpPr>
        <p:spPr>
          <a:xfrm>
            <a:off x="1047750" y="5899150"/>
            <a:ext cx="647700" cy="60960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FDF6E3"/>
                </a:solidFill>
                <a:latin typeface="Arial" pitchFamily="34" charset="0"/>
                <a:ea typeface="Arial" pitchFamily="34" charset="-122"/>
                <a:cs typeface="Arial" pitchFamily="34" charset="-120"/>
              </a:rPr>
              <a:t>3</a:t>
            </a:r>
            <a:endParaRPr lang="en-US" sz="2100" dirty="0"/>
          </a:p>
        </p:txBody>
      </p:sp>
      <p:sp>
        <p:nvSpPr>
          <p:cNvPr id="21" name="Text 19"/>
          <p:cNvSpPr/>
          <p:nvPr/>
        </p:nvSpPr>
        <p:spPr>
          <a:xfrm>
            <a:off x="1885950" y="5899150"/>
            <a:ext cx="1577568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THE BOUNTY MOMENT · ~40 MIN LATER</a:t>
            </a:r>
            <a:endParaRPr lang="en-US" sz="1500" dirty="0"/>
          </a:p>
        </p:txBody>
      </p:sp>
      <p:sp>
        <p:nvSpPr>
          <p:cNvPr id="22" name="Text 20"/>
          <p:cNvSpPr/>
          <p:nvPr/>
        </p:nvSpPr>
        <p:spPr>
          <a:xfrm>
            <a:off x="1885950" y="6223000"/>
            <a:ext cx="15775686" cy="342900"/>
          </a:xfrm>
          <a:prstGeom prst="rect">
            <a:avLst/>
          </a:prstGeom>
          <a:noFill/>
          <a:ln/>
        </p:spPr>
        <p:txBody>
          <a:bodyPr wrap="square" lIns="25400" tIns="25400" rIns="25400" bIns="25400" rtlCol="0" anchor="t">
            <a:normAutofit/>
          </a:bodyPr>
          <a:lstStyle/>
          <a:p>
            <a:pPr algn="l" indent="0" marL="0">
              <a:lnSpc>
                <a:spcPct val="128000"/>
              </a:lnSpc>
              <a:buNone/>
            </a:pPr>
            <a:r>
              <a:rPr lang="en-US" sz="1875" b="1" dirty="0">
                <a:solidFill>
                  <a:srgbClr val="14171C"/>
                </a:solidFill>
                <a:latin typeface="Arial" pitchFamily="34" charset="0"/>
                <a:ea typeface="Arial" pitchFamily="34" charset="-122"/>
                <a:cs typeface="Arial" pitchFamily="34" charset="-120"/>
              </a:rPr>
              <a:t>"Remind me which school, and when we should leave?"</a:t>
            </a:r>
            <a:endParaRPr lang="en-US" sz="1875" dirty="0"/>
          </a:p>
        </p:txBody>
      </p:sp>
      <p:sp>
        <p:nvSpPr>
          <p:cNvPr id="23" name="Text 21"/>
          <p:cNvSpPr/>
          <p:nvPr/>
        </p:nvSpPr>
        <p:spPr>
          <a:xfrm>
            <a:off x="1885950" y="6604000"/>
            <a:ext cx="15775686" cy="35560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 </a:t>
            </a:r>
            <a:pPr algn="l" indent="0" marL="0">
              <a:lnSpc>
                <a:spcPct val="140000"/>
              </a:lnSpc>
              <a:buNone/>
            </a:pPr>
            <a:r>
              <a:rPr lang="en-US" sz="1800" b="1" dirty="0">
                <a:solidFill>
                  <a:srgbClr val="2A2F37"/>
                </a:solidFill>
                <a:latin typeface="Arial" pitchFamily="34" charset="0"/>
                <a:ea typeface="Arial" pitchFamily="34" charset="-122"/>
                <a:cs typeface="Arial" pitchFamily="34" charset="-120"/>
              </a:rPr>
              <a:t>Recalls </a:t>
            </a:r>
            <a:pPr algn="l" indent="0" marL="0">
              <a:lnSpc>
                <a:spcPct val="140000"/>
              </a:lnSpc>
              <a:buNone/>
            </a:pPr>
            <a:r>
              <a:rPr lang="en-US" sz="1800" dirty="0">
                <a:solidFill>
                  <a:srgbClr val="2A2F37"/>
                </a:solidFill>
                <a:latin typeface="Arial" pitchFamily="34" charset="0"/>
                <a:ea typeface="Arial" pitchFamily="34" charset="-122"/>
                <a:cs typeface="Arial" pitchFamily="34" charset="-120"/>
              </a:rPr>
              <a:t>the school and timing from earlier in the session, no re-asking. Persistence, live.</a:t>
            </a:r>
            <a:endParaRPr lang="en-US" sz="1800" dirty="0"/>
          </a:p>
        </p:txBody>
      </p:sp>
      <p:sp>
        <p:nvSpPr>
          <p:cNvPr id="24" name="Text 22"/>
          <p:cNvSpPr/>
          <p:nvPr/>
        </p:nvSpPr>
        <p:spPr>
          <a:xfrm>
            <a:off x="800100" y="7340600"/>
            <a:ext cx="5926306" cy="393700"/>
          </a:xfrm>
          <a:prstGeom prst="rect">
            <a:avLst/>
          </a:prstGeom>
          <a:noFill/>
          <a:ln/>
        </p:spPr>
        <p:txBody>
          <a:bodyPr wrap="square" lIns="25400" tIns="25400" rIns="25400" bIns="25400" rtlCol="0" anchor="t">
            <a:normAutofit/>
          </a:bodyPr>
          <a:lstStyle/>
          <a:p>
            <a:pPr algn="l" indent="0" marL="0">
              <a:lnSpc>
                <a:spcPct val="100000"/>
              </a:lnSpc>
              <a:buNone/>
            </a:pPr>
            <a:r>
              <a:rPr lang="en-US" sz="2850" b="1" dirty="0">
                <a:solidFill>
                  <a:srgbClr val="6B6E76"/>
                </a:solidFill>
                <a:latin typeface="Arial" pitchFamily="34" charset="0"/>
                <a:ea typeface="Arial" pitchFamily="34" charset="-122"/>
                <a:cs typeface="Arial" pitchFamily="34" charset="-120"/>
              </a:rPr>
              <a:t>private access for the people who struggle most</a:t>
            </a:r>
            <a:endParaRPr lang="en-US" sz="2850" dirty="0"/>
          </a:p>
        </p:txBody>
      </p:sp>
      <p:sp>
        <p:nvSpPr>
          <p:cNvPr id="25" name="Text 23"/>
          <p:cNvSpPr/>
          <p:nvPr/>
        </p:nvSpPr>
        <p:spPr>
          <a:xfrm>
            <a:off x="16519525" y="9709150"/>
            <a:ext cx="1044575" cy="330200"/>
          </a:xfrm>
          <a:prstGeom prst="rect">
            <a:avLst/>
          </a:prstGeom>
          <a:noFill/>
          <a:ln/>
        </p:spPr>
        <p:txBody>
          <a:bodyPr wrap="square" lIns="25400" tIns="25400" rIns="25400" bIns="25400" rtlCol="0" anchor="t">
            <a:normAutofit/>
          </a:bodyPr>
          <a:lstStyle/>
          <a:p>
            <a:pPr algn="l" indent="0" marL="0">
              <a:lnSpc>
                <a:spcPct val="140000"/>
              </a:lnSpc>
              <a:buNone/>
            </a:pPr>
            <a:r>
              <a:rPr lang="en-US" sz="1650" spc="99" kern="0" dirty="0">
                <a:solidFill>
                  <a:srgbClr val="6B6E76"/>
                </a:solidFill>
                <a:latin typeface="Courier New" pitchFamily="34" charset="0"/>
                <a:ea typeface="Courier New" pitchFamily="34" charset="-122"/>
                <a:cs typeface="Courier New" pitchFamily="34" charset="-120"/>
              </a:rPr>
              <a:t>11 / 12</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6E3"/>
        </a:solidFill>
      </p:bgPr>
    </p:bg>
    <p:spTree>
      <p:nvGrpSpPr>
        <p:cNvPr id="1" name=""/>
        <p:cNvGrpSpPr/>
        <p:nvPr/>
      </p:nvGrpSpPr>
      <p:grpSpPr>
        <a:xfrm>
          <a:off x="0" y="0"/>
          <a:ext cx="0" cy="0"/>
          <a:chOff x="0" y="0"/>
          <a:chExt cx="0" cy="0"/>
        </a:xfrm>
      </p:grpSpPr>
      <p:sp>
        <p:nvSpPr>
          <p:cNvPr id="2" name="Shape 0"/>
          <p:cNvSpPr/>
          <p:nvPr/>
        </p:nvSpPr>
        <p:spPr>
          <a:xfrm>
            <a:off x="800100" y="685800"/>
            <a:ext cx="742950" cy="514350"/>
          </a:xfrm>
          <a:prstGeom prst="roundRect">
            <a:avLst>
              <a:gd name="adj" fmla="val 25926"/>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3" name="Text 1"/>
          <p:cNvSpPr/>
          <p:nvPr/>
        </p:nvSpPr>
        <p:spPr>
          <a:xfrm>
            <a:off x="952500" y="704850"/>
            <a:ext cx="438150" cy="514350"/>
          </a:xfrm>
          <a:prstGeom prst="rect">
            <a:avLst/>
          </a:prstGeom>
          <a:noFill/>
          <a:ln/>
        </p:spPr>
        <p:txBody>
          <a:bodyPr wrap="square" lIns="25400" tIns="25400" rIns="25400" bIns="25400" rtlCol="0" anchor="ctr">
            <a:normAutofit/>
          </a:bodyPr>
          <a:lstStyle/>
          <a:p>
            <a:pPr algn="ctr" indent="0" marL="0">
              <a:lnSpc>
                <a:spcPct val="140000"/>
              </a:lnSpc>
              <a:buNone/>
            </a:pPr>
            <a:r>
              <a:rPr lang="en-US" sz="2100" b="1" spc="-21" kern="0" dirty="0">
                <a:solidFill>
                  <a:srgbClr val="14171C"/>
                </a:solidFill>
                <a:latin typeface="Arial" pitchFamily="34" charset="0"/>
                <a:ea typeface="Arial" pitchFamily="34" charset="-122"/>
                <a:cs typeface="Arial" pitchFamily="34" charset="-120"/>
              </a:rPr>
              <a:t>12</a:t>
            </a:r>
            <a:endParaRPr lang="en-US" sz="2100" dirty="0"/>
          </a:p>
        </p:txBody>
      </p:sp>
      <p:sp>
        <p:nvSpPr>
          <p:cNvPr id="4" name="Text 2"/>
          <p:cNvSpPr/>
          <p:nvPr/>
        </p:nvSpPr>
        <p:spPr>
          <a:xfrm>
            <a:off x="1752600" y="784225"/>
            <a:ext cx="1071563" cy="355600"/>
          </a:xfrm>
          <a:prstGeom prst="rect">
            <a:avLst/>
          </a:prstGeom>
          <a:noFill/>
          <a:ln/>
        </p:spPr>
        <p:txBody>
          <a:bodyPr wrap="square" lIns="25400" tIns="25400" rIns="25400" bIns="25400" rtlCol="0" anchor="t">
            <a:normAutofit/>
          </a:bodyPr>
          <a:lstStyle/>
          <a:p>
            <a:pPr algn="l" indent="0" marL="0">
              <a:lnSpc>
                <a:spcPct val="100000"/>
              </a:lnSpc>
              <a:buNone/>
            </a:pPr>
            <a:r>
              <a:rPr lang="en-US" sz="2550" b="1" dirty="0">
                <a:solidFill>
                  <a:srgbClr val="6B6E76"/>
                </a:solidFill>
                <a:latin typeface="Arial" pitchFamily="34" charset="0"/>
                <a:ea typeface="Arial" pitchFamily="34" charset="-122"/>
                <a:cs typeface="Arial" pitchFamily="34" charset="-120"/>
              </a:rPr>
              <a:t>so what?</a:t>
            </a:r>
            <a:endParaRPr lang="en-US" sz="2550" dirty="0"/>
          </a:p>
        </p:txBody>
      </p:sp>
      <p:sp>
        <p:nvSpPr>
          <p:cNvPr id="5" name="Text 3"/>
          <p:cNvSpPr/>
          <p:nvPr/>
        </p:nvSpPr>
        <p:spPr>
          <a:xfrm>
            <a:off x="800100" y="1447800"/>
            <a:ext cx="15304770" cy="1358900"/>
          </a:xfrm>
          <a:prstGeom prst="rect">
            <a:avLst/>
          </a:prstGeom>
          <a:noFill/>
          <a:ln/>
        </p:spPr>
        <p:txBody>
          <a:bodyPr wrap="square" lIns="25400" tIns="25400" rIns="25400" bIns="25400" rtlCol="0" anchor="t">
            <a:normAutofit/>
          </a:bodyPr>
          <a:lstStyle/>
          <a:p>
            <a:pPr algn="l" indent="0" marL="0">
              <a:lnSpc>
                <a:spcPct val="106000"/>
              </a:lnSpc>
              <a:buNone/>
            </a:pPr>
            <a:r>
              <a:rPr lang="en-US" sz="4950" b="1" spc="-109" kern="0" dirty="0">
                <a:solidFill>
                  <a:srgbClr val="14171C"/>
                </a:solidFill>
                <a:latin typeface="Arial" pitchFamily="34" charset="0"/>
                <a:ea typeface="Arial" pitchFamily="34" charset="-122"/>
                <a:cs typeface="Arial" pitchFamily="34" charset="-120"/>
              </a:rPr>
              <a:t>Equitable, private access to civic services, </a:t>
            </a:r>
            <a:pPr algn="l" indent="0" marL="0">
              <a:lnSpc>
                <a:spcPct val="106000"/>
              </a:lnSpc>
              <a:buNone/>
            </a:pPr>
            <a:r>
              <a:rPr lang="en-US" sz="4950" b="1" spc="-109" kern="0" dirty="0">
                <a:solidFill>
                  <a:srgbClr val="14171C"/>
                </a:solidFill>
                <a:highlight>
                  <a:srgbClr val="A8E3A6"/>
                </a:highlight>
                <a:latin typeface="Arial" pitchFamily="34" charset="0"/>
                <a:ea typeface="Arial" pitchFamily="34" charset="-122"/>
                <a:cs typeface="Arial" pitchFamily="34" charset="-120"/>
              </a:rPr>
              <a:t>that runs anywhere</a:t>
            </a:r>
            <a:pPr algn="l" indent="0" marL="0">
              <a:lnSpc>
                <a:spcPct val="106000"/>
              </a:lnSpc>
              <a:buNone/>
            </a:pPr>
            <a:r>
              <a:rPr lang="en-US" sz="4950" b="1" spc="-109" kern="0" dirty="0">
                <a:solidFill>
                  <a:srgbClr val="14171C"/>
                </a:solidFill>
                <a:latin typeface="Arial" pitchFamily="34" charset="0"/>
                <a:ea typeface="Arial" pitchFamily="34" charset="-122"/>
                <a:cs typeface="Arial" pitchFamily="34" charset="-120"/>
              </a:rPr>
              <a:t>.</a:t>
            </a:r>
            <a:endParaRPr lang="en-US" sz="4950" dirty="0"/>
          </a:p>
        </p:txBody>
      </p:sp>
      <p:sp>
        <p:nvSpPr>
          <p:cNvPr id="6" name="Shape 4"/>
          <p:cNvSpPr/>
          <p:nvPr/>
        </p:nvSpPr>
        <p:spPr>
          <a:xfrm>
            <a:off x="800100" y="3206750"/>
            <a:ext cx="5397500" cy="1511300"/>
          </a:xfrm>
          <a:prstGeom prst="roundRect">
            <a:avLst>
              <a:gd name="adj" fmla="val 11345"/>
            </a:avLst>
          </a:prstGeom>
          <a:solidFill>
            <a:srgbClr val="FCD5D5"/>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7" name="Text 5"/>
          <p:cNvSpPr/>
          <p:nvPr/>
        </p:nvSpPr>
        <p:spPr>
          <a:xfrm>
            <a:off x="1104900" y="3473450"/>
            <a:ext cx="493153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EQUITY</a:t>
            </a:r>
            <a:endParaRPr lang="en-US" sz="1500" dirty="0"/>
          </a:p>
        </p:txBody>
      </p:sp>
      <p:sp>
        <p:nvSpPr>
          <p:cNvPr id="8" name="Text 6"/>
          <p:cNvSpPr/>
          <p:nvPr/>
        </p:nvSpPr>
        <p:spPr>
          <a:xfrm>
            <a:off x="1104900" y="3816350"/>
            <a:ext cx="4931537" cy="6731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Built for the people maps leave behind</a:t>
            </a:r>
            <a:endParaRPr lang="en-US" sz="2250" dirty="0"/>
          </a:p>
        </p:txBody>
      </p:sp>
      <p:sp>
        <p:nvSpPr>
          <p:cNvPr id="9" name="Shape 7"/>
          <p:cNvSpPr/>
          <p:nvPr/>
        </p:nvSpPr>
        <p:spPr>
          <a:xfrm>
            <a:off x="6445250" y="3206750"/>
            <a:ext cx="5397500" cy="1511300"/>
          </a:xfrm>
          <a:prstGeom prst="roundRect">
            <a:avLst>
              <a:gd name="adj" fmla="val 11345"/>
            </a:avLst>
          </a:prstGeom>
          <a:solidFill>
            <a:srgbClr val="D2F0E6"/>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0" name="Text 8"/>
          <p:cNvSpPr/>
          <p:nvPr/>
        </p:nvSpPr>
        <p:spPr>
          <a:xfrm>
            <a:off x="6750050" y="3473450"/>
            <a:ext cx="493153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PRIVACY</a:t>
            </a:r>
            <a:endParaRPr lang="en-US" sz="1500" dirty="0"/>
          </a:p>
        </p:txBody>
      </p:sp>
      <p:sp>
        <p:nvSpPr>
          <p:cNvPr id="11" name="Text 9"/>
          <p:cNvSpPr/>
          <p:nvPr/>
        </p:nvSpPr>
        <p:spPr>
          <a:xfrm>
            <a:off x="6750050" y="3816350"/>
            <a:ext cx="4931537" cy="6731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Location and queries never leave the box</a:t>
            </a:r>
            <a:endParaRPr lang="en-US" sz="2250" dirty="0"/>
          </a:p>
        </p:txBody>
      </p:sp>
      <p:sp>
        <p:nvSpPr>
          <p:cNvPr id="12" name="Shape 10"/>
          <p:cNvSpPr/>
          <p:nvPr/>
        </p:nvSpPr>
        <p:spPr>
          <a:xfrm>
            <a:off x="12090400" y="3206750"/>
            <a:ext cx="5397500" cy="1511300"/>
          </a:xfrm>
          <a:prstGeom prst="roundRect">
            <a:avLst>
              <a:gd name="adj" fmla="val 11345"/>
            </a:avLst>
          </a:prstGeom>
          <a:solidFill>
            <a:srgbClr val="D5E6FA"/>
          </a:solidFill>
          <a:ln w="19050">
            <a:solidFill>
              <a:srgbClr val="14171C"/>
            </a:solidFill>
            <a:prstDash val="solid"/>
          </a:ln>
          <a:effectLst>
            <a:outerShdw sx="100000" sy="100000" kx="0" ky="0" algn="bl" rotWithShape="0" blurRad="101600" dist="67352" dir="2700000">
              <a:srgbClr val="14171C">
                <a:alpha val="100000"/>
              </a:srgbClr>
            </a:outerShdw>
          </a:effectLst>
        </p:spPr>
      </p:sp>
      <p:sp>
        <p:nvSpPr>
          <p:cNvPr id="13" name="Text 11"/>
          <p:cNvSpPr/>
          <p:nvPr/>
        </p:nvSpPr>
        <p:spPr>
          <a:xfrm>
            <a:off x="12395200" y="3473450"/>
            <a:ext cx="4931537"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WHAT'S NEXT</a:t>
            </a:r>
            <a:endParaRPr lang="en-US" sz="1500" dirty="0"/>
          </a:p>
        </p:txBody>
      </p:sp>
      <p:sp>
        <p:nvSpPr>
          <p:cNvPr id="14" name="Text 12"/>
          <p:cNvSpPr/>
          <p:nvPr/>
        </p:nvSpPr>
        <p:spPr>
          <a:xfrm>
            <a:off x="12395200" y="3816350"/>
            <a:ext cx="4931537" cy="673100"/>
          </a:xfrm>
          <a:prstGeom prst="rect">
            <a:avLst/>
          </a:prstGeom>
          <a:noFill/>
          <a:ln/>
        </p:spPr>
        <p:txBody>
          <a:bodyPr wrap="square" lIns="25400" tIns="25400" rIns="25400" bIns="25400" rtlCol="0" anchor="t">
            <a:normAutofit/>
          </a:bodyPr>
          <a:lstStyle/>
          <a:p>
            <a:pPr algn="l" indent="0" marL="0">
              <a:lnSpc>
                <a:spcPct val="112000"/>
              </a:lnSpc>
              <a:buNone/>
            </a:pPr>
            <a:r>
              <a:rPr lang="en-US" sz="2250" b="1" spc="-22" kern="0" dirty="0">
                <a:solidFill>
                  <a:srgbClr val="14171C"/>
                </a:solidFill>
                <a:latin typeface="Arial" pitchFamily="34" charset="0"/>
                <a:ea typeface="Arial" pitchFamily="34" charset="-122"/>
                <a:cs typeface="Arial" pitchFamily="34" charset="-120"/>
              </a:rPr>
              <a:t>Assigned-catchment lookups, more boroughs, kiosks</a:t>
            </a:r>
            <a:endParaRPr lang="en-US" sz="2250" dirty="0"/>
          </a:p>
        </p:txBody>
      </p:sp>
      <p:sp>
        <p:nvSpPr>
          <p:cNvPr id="15" name="Shape 13"/>
          <p:cNvSpPr/>
          <p:nvPr/>
        </p:nvSpPr>
        <p:spPr>
          <a:xfrm>
            <a:off x="800100" y="5308600"/>
            <a:ext cx="2112764" cy="952500"/>
          </a:xfrm>
          <a:prstGeom prst="roundRect">
            <a:avLst>
              <a:gd name="adj" fmla="val 18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16" name="Text 14"/>
          <p:cNvSpPr/>
          <p:nvPr/>
        </p:nvSpPr>
        <p:spPr>
          <a:xfrm>
            <a:off x="1047750" y="5461000"/>
            <a:ext cx="1693664"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TEAM</a:t>
            </a:r>
            <a:endParaRPr lang="en-US" sz="1500" dirty="0"/>
          </a:p>
        </p:txBody>
      </p:sp>
      <p:sp>
        <p:nvSpPr>
          <p:cNvPr id="17" name="Text 15"/>
          <p:cNvSpPr/>
          <p:nvPr/>
        </p:nvSpPr>
        <p:spPr>
          <a:xfrm>
            <a:off x="1047750" y="5765800"/>
            <a:ext cx="1693664" cy="38100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4171C"/>
                </a:solidFill>
                <a:latin typeface="Arial" pitchFamily="34" charset="0"/>
                <a:ea typeface="Arial" pitchFamily="34" charset="-122"/>
                <a:cs typeface="Arial" pitchFamily="34" charset="-120"/>
              </a:rPr>
              <a:t>Codeborough</a:t>
            </a:r>
            <a:endParaRPr lang="en-US" sz="1950" dirty="0"/>
          </a:p>
        </p:txBody>
      </p:sp>
      <p:sp>
        <p:nvSpPr>
          <p:cNvPr id="18" name="Shape 16"/>
          <p:cNvSpPr/>
          <p:nvPr/>
        </p:nvSpPr>
        <p:spPr>
          <a:xfrm>
            <a:off x="3084314" y="5308600"/>
            <a:ext cx="7504509" cy="952500"/>
          </a:xfrm>
          <a:prstGeom prst="roundRect">
            <a:avLst>
              <a:gd name="adj" fmla="val 18000"/>
            </a:avLst>
          </a:prstGeom>
          <a:solidFill>
            <a:srgbClr val="FFFFFF"/>
          </a:solidFill>
          <a:ln w="19050">
            <a:solidFill>
              <a:srgbClr val="14171C"/>
            </a:solidFill>
            <a:prstDash val="solid"/>
          </a:ln>
          <a:effectLst>
            <a:outerShdw sx="100000" sy="100000" kx="0" ky="0" algn="bl" rotWithShape="0" blurRad="101600" dist="40411" dir="2700000">
              <a:srgbClr val="14171C">
                <a:alpha val="100000"/>
              </a:srgbClr>
            </a:outerShdw>
          </a:effectLst>
        </p:spPr>
      </p:sp>
      <p:sp>
        <p:nvSpPr>
          <p:cNvPr id="19" name="Text 17"/>
          <p:cNvSpPr/>
          <p:nvPr/>
        </p:nvSpPr>
        <p:spPr>
          <a:xfrm>
            <a:off x="3331964" y="5461000"/>
            <a:ext cx="7219486"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spc="90" kern="0" dirty="0">
                <a:solidFill>
                  <a:srgbClr val="6B6E76"/>
                </a:solidFill>
                <a:latin typeface="Courier New" pitchFamily="34" charset="0"/>
                <a:ea typeface="Courier New" pitchFamily="34" charset="-122"/>
                <a:cs typeface="Courier New" pitchFamily="34" charset="-120"/>
              </a:rPr>
              <a:t>THE ONE-LINER</a:t>
            </a:r>
            <a:endParaRPr lang="en-US" sz="1500" dirty="0"/>
          </a:p>
        </p:txBody>
      </p:sp>
      <p:sp>
        <p:nvSpPr>
          <p:cNvPr id="20" name="Text 18"/>
          <p:cNvSpPr/>
          <p:nvPr/>
        </p:nvSpPr>
        <p:spPr>
          <a:xfrm>
            <a:off x="3331964" y="5765800"/>
            <a:ext cx="7219486" cy="38100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4171C"/>
                </a:solidFill>
                <a:latin typeface="Arial" pitchFamily="34" charset="0"/>
                <a:ea typeface="Arial" pitchFamily="34" charset="-122"/>
                <a:cs typeface="Arial" pitchFamily="34" charset="-120"/>
              </a:rPr>
              <a:t>A private, on-device, voice-first civic concierge for London.</a:t>
            </a:r>
            <a:endParaRPr lang="en-US" sz="1950" dirty="0"/>
          </a:p>
        </p:txBody>
      </p:sp>
      <p:sp>
        <p:nvSpPr>
          <p:cNvPr id="21" name="Text 19"/>
          <p:cNvSpPr/>
          <p:nvPr/>
        </p:nvSpPr>
        <p:spPr>
          <a:xfrm>
            <a:off x="15644813" y="5753100"/>
            <a:ext cx="1919288" cy="546100"/>
          </a:xfrm>
          <a:prstGeom prst="rect">
            <a:avLst/>
          </a:prstGeom>
          <a:noFill/>
          <a:ln/>
        </p:spPr>
        <p:txBody>
          <a:bodyPr wrap="square" lIns="25400" tIns="25400" rIns="25400" bIns="25400" rtlCol="0" anchor="t">
            <a:normAutofit/>
          </a:bodyPr>
          <a:lstStyle/>
          <a:p>
            <a:pPr algn="l" indent="0" marL="0">
              <a:lnSpc>
                <a:spcPct val="100000"/>
              </a:lnSpc>
              <a:buNone/>
            </a:pPr>
            <a:r>
              <a:rPr lang="en-US" sz="4050" b="1" dirty="0">
                <a:solidFill>
                  <a:srgbClr val="14171C"/>
                </a:solidFill>
                <a:latin typeface="Arial" pitchFamily="34" charset="0"/>
                <a:ea typeface="Arial" pitchFamily="34" charset="-122"/>
                <a:cs typeface="Arial" pitchFamily="34" charset="-120"/>
              </a:rPr>
              <a:t>thank you!</a:t>
            </a:r>
            <a:endParaRPr lang="en-US" sz="4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2026-06-06T15:12:40Z</dcterms:created>
  <dcterms:modified xsi:type="dcterms:W3CDTF">2026-06-06T15:12:40Z</dcterms:modified>
</cp:coreProperties>
</file>